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6EE"/>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457200"/>
            <a:ext cx="10972800" cy="379677"/>
          </a:xfrm>
          <a:prstGeom prst="rect">
            <a:avLst/>
          </a:prstGeom>
          <a:noFill/>
          <a:ln/>
        </p:spPr>
        <p:txBody>
          <a:bodyPr wrap="square" lIns="0" tIns="0" rIns="0" bIns="0" rtlCol="0" anchor="t"/>
          <a:lstStyle>
            <a:lvl1pPr algn="l" indent="0" marL="0">
              <a:lnSpc>
                <a:spcPct val="115000"/>
              </a:lnSpc>
              <a:buNone/>
              <a:defRPr lang="en-US" sz="2600" dirty="0">
                <a:solidFill>
                  <a:srgbClr val="1F2A1C"/>
                </a:solidFill>
                <a:latin typeface="Georgia" pitchFamily="34" charset="0"/>
                <a:ea typeface="Georgia" pitchFamily="34" charset="-122"/>
                <a:cs typeface="Georgia"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609600" y="1141677"/>
            <a:ext cx="10769600" cy="4903523"/>
          </a:xfrm>
          <a:prstGeom prst="rect">
            <a:avLst/>
          </a:prstGeom>
          <a:noFill/>
          <a:ln/>
        </p:spPr>
        <p:txBody>
          <a:bodyPr wrap="square" lIns="0" tIns="0" rIns="0" bIns="0" rtlCol="0" anchor="t"/>
          <a:lstStyle>
            <a:lvl1pPr algn="l" indent="0" marL="0">
              <a:lnSpc>
                <a:spcPct val="140000"/>
              </a:lnSpc>
              <a:buNone/>
              <a:defRPr lang="en-US" sz="1600" dirty="0">
                <a:solidFill>
                  <a:srgbClr val="1F2A1C"/>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6EE"/>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457200"/>
            <a:ext cx="10972800" cy="379677"/>
          </a:xfrm>
          <a:prstGeom prst="rect">
            <a:avLst/>
          </a:prstGeom>
          <a:noFill/>
          <a:ln/>
        </p:spPr>
        <p:txBody>
          <a:bodyPr wrap="square" lIns="0" tIns="0" rIns="0" bIns="0" rtlCol="0" anchor="t"/>
          <a:lstStyle>
            <a:lvl1pPr algn="l" indent="0" marL="0">
              <a:lnSpc>
                <a:spcPct val="115000"/>
              </a:lnSpc>
              <a:buNone/>
              <a:defRPr lang="en-US" sz="2600" dirty="0">
                <a:solidFill>
                  <a:srgbClr val="1F2A1C"/>
                </a:solidFill>
                <a:latin typeface="Georgia" pitchFamily="34" charset="0"/>
                <a:ea typeface="Georgia" pitchFamily="34" charset="-122"/>
                <a:cs typeface="Georgia"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609600" y="1141677"/>
            <a:ext cx="10769600" cy="4903523"/>
          </a:xfrm>
          <a:prstGeom prst="rect">
            <a:avLst/>
          </a:prstGeom>
          <a:noFill/>
          <a:ln/>
        </p:spPr>
        <p:txBody>
          <a:bodyPr wrap="square" lIns="0" tIns="0" rIns="0" bIns="0" rtlCol="0" anchor="t"/>
          <a:lstStyle>
            <a:lvl1pPr algn="l" indent="0" marL="0">
              <a:lnSpc>
                <a:spcPct val="140000"/>
              </a:lnSpc>
              <a:buNone/>
              <a:defRPr lang="en-US" sz="1600" dirty="0">
                <a:solidFill>
                  <a:srgbClr val="1F2A1C"/>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1C"/>
        </a:solidFill>
      </p:bgPr>
    </p:bg>
    <p:spTree>
      <p:nvGrpSpPr>
        <p:cNvPr id="1" name=""/>
        <p:cNvGrpSpPr/>
        <p:nvPr/>
      </p:nvGrpSpPr>
      <p:grpSpPr>
        <a:xfrm>
          <a:off x="0" y="0"/>
          <a:ext cx="0" cy="0"/>
          <a:chOff x="0" y="0"/>
          <a:chExt cx="0" cy="0"/>
        </a:xfrm>
      </p:grpSpPr>
      <p:sp>
        <p:nvSpPr>
          <p:cNvPr id="2" name="Text 0"/>
          <p:cNvSpPr/>
          <p:nvPr/>
        </p:nvSpPr>
        <p:spPr>
          <a:xfrm>
            <a:off x="812800" y="1938139"/>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9A35A"/>
                </a:solidFill>
                <a:latin typeface="Arial" pitchFamily="34" charset="0"/>
                <a:ea typeface="Arial" pitchFamily="34" charset="-122"/>
                <a:cs typeface="Arial" pitchFamily="34" charset="-120"/>
              </a:rPr>
              <a:t>CRUNCH THEORY · HEALTHY SNACKS · INDIA</a:t>
            </a:r>
            <a:endParaRPr lang="en-US" sz="1400" dirty="0"/>
          </a:p>
        </p:txBody>
      </p:sp>
      <p:sp>
        <p:nvSpPr>
          <p:cNvPr id="3" name="Text 1"/>
          <p:cNvSpPr/>
          <p:nvPr>
            <p:ph type="title"/>
          </p:nvPr>
        </p:nvSpPr>
        <p:spPr>
          <a:xfrm>
            <a:off x="812800" y="2390246"/>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AF6EE"/>
                </a:solidFill>
                <a:latin typeface="Georgia" pitchFamily="18" charset="0"/>
                <a:ea typeface="Georgia" pitchFamily="18" charset="-122"/>
                <a:cs typeface="Georgia" pitchFamily="18" charset="-120"/>
              </a:rPr>
              <a:t>Customer Personas, Tribe Analysis &amp; Customer Journey</a:t>
            </a:r>
            <a:endParaRPr lang="en-US" sz="4800" dirty="0"/>
          </a:p>
        </p:txBody>
      </p:sp>
      <p:sp>
        <p:nvSpPr>
          <p:cNvPr id="4" name="Text 2"/>
          <p:cNvSpPr/>
          <p:nvPr/>
        </p:nvSpPr>
        <p:spPr>
          <a:xfrm>
            <a:off x="812800" y="3934487"/>
            <a:ext cx="10883392"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AF6EE"/>
                </a:solidFill>
                <a:latin typeface="Arial" pitchFamily="34" charset="0"/>
                <a:ea typeface="Arial" pitchFamily="34" charset="-122"/>
                <a:cs typeface="Arial" pitchFamily="34" charset="-120"/>
              </a:rPr>
              <a:t>Objective: identify the target audience, understand their lifestyles and snacking habits, uncover pain points, and map the journey to attract, convert and retain customers.</a:t>
            </a:r>
            <a:endParaRPr lang="en-US" sz="1600" dirty="0"/>
          </a:p>
        </p:txBody>
      </p:sp>
      <p:sp>
        <p:nvSpPr>
          <p:cNvPr id="5" name="Text 3"/>
          <p:cNvSpPr/>
          <p:nvPr/>
        </p:nvSpPr>
        <p:spPr>
          <a:xfrm>
            <a:off x="812800" y="47065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B0"/>
                </a:solidFill>
                <a:latin typeface="Arial" pitchFamily="34" charset="0"/>
                <a:ea typeface="Arial" pitchFamily="34" charset="-122"/>
                <a:cs typeface="Arial" pitchFamily="34" charset="-120"/>
              </a:rPr>
              <a:t>Illustrative profiles for the Indian market. Validate through interviews, surveys and market research.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E"/>
        </a:solidFill>
      </p:bgPr>
    </p:bg>
    <p:spTree>
      <p:nvGrpSpPr>
        <p:cNvPr id="1" name=""/>
        <p:cNvGrpSpPr/>
        <p:nvPr/>
      </p:nvGrpSpPr>
      <p:grpSpPr>
        <a:xfrm>
          <a:off x="0" y="0"/>
          <a:ext cx="0" cy="0"/>
          <a:chOff x="0" y="0"/>
          <a:chExt cx="0" cy="0"/>
        </a:xfrm>
      </p:grpSpPr>
      <p:sp>
        <p:nvSpPr>
          <p:cNvPr id="2" name="Text 0"/>
          <p:cNvSpPr/>
          <p:nvPr>
            <p:ph type="title"/>
          </p:nvPr>
        </p:nvSpPr>
        <p:spPr>
          <a:xfrm>
            <a:off x="609600" y="457200"/>
            <a:ext cx="11301984" cy="405077"/>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1F2A1C"/>
                </a:solidFill>
                <a:latin typeface="Georgia" pitchFamily="18" charset="0"/>
                <a:ea typeface="Georgia" pitchFamily="18" charset="-122"/>
                <a:cs typeface="Georgia" pitchFamily="18" charset="-120"/>
              </a:rPr>
              <a:t>Personas 1–3: the core audience</a:t>
            </a:r>
            <a:endParaRPr lang="en-US" sz="2600" dirty="0"/>
          </a:p>
        </p:txBody>
      </p:sp>
      <p:sp>
        <p:nvSpPr>
          <p:cNvPr id="3" name="Shape 1"/>
          <p:cNvSpPr/>
          <p:nvPr/>
        </p:nvSpPr>
        <p:spPr>
          <a:xfrm>
            <a:off x="612775" y="992453"/>
            <a:ext cx="3549650" cy="3596217"/>
          </a:xfrm>
          <a:prstGeom prst="roundRect">
            <a:avLst>
              <a:gd name="adj" fmla="val 2773"/>
            </a:avLst>
          </a:prstGeom>
          <a:solidFill>
            <a:srgbClr val="FFFFFF"/>
          </a:solidFill>
          <a:ln w="6350">
            <a:solidFill>
              <a:srgbClr val="E6DFCF"/>
            </a:solidFill>
            <a:prstDash val="solid"/>
          </a:ln>
        </p:spPr>
      </p:sp>
      <p:sp>
        <p:nvSpPr>
          <p:cNvPr id="4" name="Text 2"/>
          <p:cNvSpPr/>
          <p:nvPr/>
        </p:nvSpPr>
        <p:spPr>
          <a:xfrm>
            <a:off x="791633" y="1171311"/>
            <a:ext cx="328769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2A1C"/>
                </a:solidFill>
                <a:latin typeface="Georgia" pitchFamily="18" charset="0"/>
                <a:ea typeface="Georgia" pitchFamily="18" charset="-122"/>
                <a:cs typeface="Georgia" pitchFamily="18" charset="-120"/>
              </a:rPr>
              <a:t>1. Arjun, The Guilty Snacker</a:t>
            </a:r>
            <a:endParaRPr lang="en-US" sz="1600" dirty="0"/>
          </a:p>
        </p:txBody>
      </p:sp>
      <p:sp>
        <p:nvSpPr>
          <p:cNvPr id="5" name="Text 3"/>
          <p:cNvSpPr/>
          <p:nvPr/>
        </p:nvSpPr>
        <p:spPr>
          <a:xfrm>
            <a:off x="791633" y="1488811"/>
            <a:ext cx="3287691"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8A5A1C"/>
                </a:solidFill>
                <a:latin typeface="Arial" pitchFamily="34" charset="0"/>
                <a:ea typeface="Arial" pitchFamily="34" charset="-122"/>
                <a:cs typeface="Arial" pitchFamily="34" charset="-120"/>
              </a:rPr>
              <a:t>35 · Married · Software engineer · Primary target</a:t>
            </a:r>
            <a:endParaRPr lang="en-US" sz="1200" dirty="0"/>
          </a:p>
        </p:txBody>
      </p:sp>
      <p:sp>
        <p:nvSpPr>
          <p:cNvPr id="6" name="Text 4"/>
          <p:cNvSpPr/>
          <p:nvPr/>
        </p:nvSpPr>
        <p:spPr>
          <a:xfrm>
            <a:off x="791633" y="1933311"/>
            <a:ext cx="3287691" cy="787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Behaviour:</a:t>
            </a:r>
            <a:r>
              <a:rPr lang="en-US" sz="1200" dirty="0">
                <a:solidFill>
                  <a:srgbClr val="1F2A1C"/>
                </a:solidFill>
                <a:latin typeface="Arial" pitchFamily="34" charset="0"/>
                <a:ea typeface="Arial" pitchFamily="34" charset="-122"/>
                <a:cs typeface="Arial" pitchFamily="34" charset="-120"/>
              </a:rPr>
              <a:t> sedentary, irregular meals, late nights; chips, biscuits, namkeen; stress and boredom cravings; spouse influences the pantry.</a:t>
            </a:r>
            <a:endParaRPr lang="en-US" sz="1200" dirty="0"/>
          </a:p>
        </p:txBody>
      </p:sp>
      <p:sp>
        <p:nvSpPr>
          <p:cNvPr id="7" name="Text 5"/>
          <p:cNvSpPr/>
          <p:nvPr/>
        </p:nvSpPr>
        <p:spPr>
          <a:xfrm>
            <a:off x="791633" y="2758811"/>
            <a:ext cx="3287691"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Goals:</a:t>
            </a:r>
            <a:r>
              <a:rPr lang="en-US" sz="1200" dirty="0">
                <a:solidFill>
                  <a:srgbClr val="1F2A1C"/>
                </a:solidFill>
                <a:latin typeface="Arial" pitchFamily="34" charset="0"/>
                <a:ea typeface="Arial" pitchFamily="34" charset="-122"/>
                <a:cs typeface="Arial" pitchFamily="34" charset="-120"/>
              </a:rPr>
              <a:t> manage weight without giving up snacking; small realistic changes; less guilt.</a:t>
            </a:r>
            <a:endParaRPr lang="en-US" sz="1200" dirty="0"/>
          </a:p>
        </p:txBody>
      </p:sp>
      <p:sp>
        <p:nvSpPr>
          <p:cNvPr id="8" name="Text 6"/>
          <p:cNvSpPr/>
          <p:nvPr/>
        </p:nvSpPr>
        <p:spPr>
          <a:xfrm>
            <a:off x="791633" y="3203311"/>
            <a:ext cx="3287691" cy="596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Pain:</a:t>
            </a:r>
            <a:r>
              <a:rPr lang="en-US" sz="1200" dirty="0">
                <a:solidFill>
                  <a:srgbClr val="1F2A1C"/>
                </a:solidFill>
                <a:latin typeface="Arial" pitchFamily="34" charset="0"/>
                <a:ea typeface="Arial" pitchFamily="34" charset="-122"/>
                <a:cs typeface="Arial" pitchFamily="34" charset="-120"/>
              </a:rPr>
              <a:t> healthy snacks seem bland, pricey, unfilling; hard to judge "healthy" labels; mindless eating.</a:t>
            </a:r>
            <a:endParaRPr lang="en-US" sz="1200" dirty="0"/>
          </a:p>
        </p:txBody>
      </p:sp>
      <p:sp>
        <p:nvSpPr>
          <p:cNvPr id="9" name="Text 7"/>
          <p:cNvSpPr/>
          <p:nvPr/>
        </p:nvSpPr>
        <p:spPr>
          <a:xfrm>
            <a:off x="791633" y="3838311"/>
            <a:ext cx="3287691" cy="596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Opportunity:</a:t>
            </a:r>
            <a:r>
              <a:rPr lang="en-US" sz="1200" dirty="0">
                <a:solidFill>
                  <a:srgbClr val="1F2A1C"/>
                </a:solidFill>
                <a:latin typeface="Arial" pitchFamily="34" charset="0"/>
                <a:ea typeface="Arial" pitchFamily="34" charset="-122"/>
                <a:cs typeface="Arial" pitchFamily="34" charset="-120"/>
              </a:rPr>
              <a:t> tasty, convenient swap with transparent nutrition. Don't promise weight loss.</a:t>
            </a:r>
            <a:endParaRPr lang="en-US" sz="1200" dirty="0"/>
          </a:p>
        </p:txBody>
      </p:sp>
      <p:sp>
        <p:nvSpPr>
          <p:cNvPr id="10" name="Shape 8"/>
          <p:cNvSpPr/>
          <p:nvPr/>
        </p:nvSpPr>
        <p:spPr>
          <a:xfrm>
            <a:off x="4321175" y="992453"/>
            <a:ext cx="3549650" cy="3596217"/>
          </a:xfrm>
          <a:prstGeom prst="roundRect">
            <a:avLst>
              <a:gd name="adj" fmla="val 2773"/>
            </a:avLst>
          </a:prstGeom>
          <a:solidFill>
            <a:srgbClr val="FFFFFF"/>
          </a:solidFill>
          <a:ln w="6350">
            <a:solidFill>
              <a:srgbClr val="E6DFCF"/>
            </a:solidFill>
            <a:prstDash val="solid"/>
          </a:ln>
        </p:spPr>
      </p:sp>
      <p:sp>
        <p:nvSpPr>
          <p:cNvPr id="11" name="Text 9"/>
          <p:cNvSpPr/>
          <p:nvPr/>
        </p:nvSpPr>
        <p:spPr>
          <a:xfrm>
            <a:off x="4500033" y="1171311"/>
            <a:ext cx="3287691"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2A1C"/>
                </a:solidFill>
                <a:latin typeface="Georgia" pitchFamily="18" charset="0"/>
                <a:ea typeface="Georgia" pitchFamily="18" charset="-122"/>
                <a:cs typeface="Georgia" pitchFamily="18" charset="-120"/>
              </a:rPr>
              <a:t>2. Priya, Health-Conscious Achiever</a:t>
            </a:r>
            <a:endParaRPr lang="en-US" sz="1600" dirty="0"/>
          </a:p>
        </p:txBody>
      </p:sp>
      <p:sp>
        <p:nvSpPr>
          <p:cNvPr id="12" name="Text 10"/>
          <p:cNvSpPr/>
          <p:nvPr/>
        </p:nvSpPr>
        <p:spPr>
          <a:xfrm>
            <a:off x="4500033" y="1742811"/>
            <a:ext cx="3367617"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8A5A1C"/>
                </a:solidFill>
                <a:latin typeface="Arial" pitchFamily="34" charset="0"/>
                <a:ea typeface="Arial" pitchFamily="34" charset="-122"/>
                <a:cs typeface="Arial" pitchFamily="34" charset="-120"/>
              </a:rPr>
              <a:t>28 · Single · Marketing professional · Metro</a:t>
            </a:r>
            <a:endParaRPr lang="en-US" sz="1200" dirty="0"/>
          </a:p>
        </p:txBody>
      </p:sp>
      <p:sp>
        <p:nvSpPr>
          <p:cNvPr id="13" name="Text 11"/>
          <p:cNvSpPr/>
          <p:nvPr/>
        </p:nvSpPr>
        <p:spPr>
          <a:xfrm>
            <a:off x="4500033" y="1996811"/>
            <a:ext cx="3287691" cy="596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Behaviour:</a:t>
            </a:r>
            <a:r>
              <a:rPr lang="en-US" sz="1200" dirty="0">
                <a:solidFill>
                  <a:srgbClr val="1F2A1C"/>
                </a:solidFill>
                <a:latin typeface="Arial" pitchFamily="34" charset="0"/>
                <a:ea typeface="Arial" pitchFamily="34" charset="-122"/>
                <a:cs typeface="Arial" pitchFamily="34" charset="-120"/>
              </a:rPr>
              <a:t> snacks between meetings; discovers products via Instagram, YouTube, influencers; checks calories, protein, sugar.</a:t>
            </a:r>
            <a:endParaRPr lang="en-US" sz="1200" dirty="0"/>
          </a:p>
        </p:txBody>
      </p:sp>
      <p:sp>
        <p:nvSpPr>
          <p:cNvPr id="14" name="Text 12"/>
          <p:cNvSpPr/>
          <p:nvPr/>
        </p:nvSpPr>
        <p:spPr>
          <a:xfrm>
            <a:off x="4500033" y="2631811"/>
            <a:ext cx="3287691"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Goals:</a:t>
            </a:r>
            <a:r>
              <a:rPr lang="en-US" sz="1200" dirty="0">
                <a:solidFill>
                  <a:srgbClr val="1F2A1C"/>
                </a:solidFill>
                <a:latin typeface="Arial" pitchFamily="34" charset="0"/>
                <a:ea typeface="Arial" pitchFamily="34" charset="-122"/>
                <a:cs typeface="Arial" pitchFamily="34" charset="-120"/>
              </a:rPr>
              <a:t> stay energetic and balanced; good taste, attractive packs, credible nutrition.</a:t>
            </a:r>
            <a:endParaRPr lang="en-US" sz="1200" dirty="0"/>
          </a:p>
        </p:txBody>
      </p:sp>
      <p:sp>
        <p:nvSpPr>
          <p:cNvPr id="15" name="Text 13"/>
          <p:cNvSpPr/>
          <p:nvPr/>
        </p:nvSpPr>
        <p:spPr>
          <a:xfrm>
            <a:off x="4500033" y="3076311"/>
            <a:ext cx="3287691"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Pain:</a:t>
            </a:r>
            <a:r>
              <a:rPr lang="en-US" sz="1200" dirty="0">
                <a:solidFill>
                  <a:srgbClr val="1F2A1C"/>
                </a:solidFill>
                <a:latin typeface="Arial" pitchFamily="34" charset="0"/>
                <a:ea typeface="Arial" pitchFamily="34" charset="-122"/>
                <a:cs typeface="Arial" pitchFamily="34" charset="-120"/>
              </a:rPr>
              <a:t> exaggerated claims; poor office and vending options; premium prices add up.</a:t>
            </a:r>
            <a:endParaRPr lang="en-US" sz="1200" dirty="0"/>
          </a:p>
        </p:txBody>
      </p:sp>
      <p:sp>
        <p:nvSpPr>
          <p:cNvPr id="16" name="Text 14"/>
          <p:cNvSpPr/>
          <p:nvPr/>
        </p:nvSpPr>
        <p:spPr>
          <a:xfrm>
            <a:off x="4500033" y="3520811"/>
            <a:ext cx="3287691" cy="596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Opportunity:</a:t>
            </a:r>
            <a:r>
              <a:rPr lang="en-US" sz="1200" dirty="0">
                <a:solidFill>
                  <a:srgbClr val="1F2A1C"/>
                </a:solidFill>
                <a:latin typeface="Arial" pitchFamily="34" charset="0"/>
                <a:ea typeface="Arial" pitchFamily="34" charset="-122"/>
                <a:cs typeface="Arial" pitchFamily="34" charset="-120"/>
              </a:rPr>
              <a:t> clear ingredients, simple nutrition info, attractive packaging, social content without unsupported claims.</a:t>
            </a:r>
            <a:endParaRPr lang="en-US" sz="1200" dirty="0"/>
          </a:p>
        </p:txBody>
      </p:sp>
      <p:sp>
        <p:nvSpPr>
          <p:cNvPr id="17" name="Shape 15"/>
          <p:cNvSpPr/>
          <p:nvPr/>
        </p:nvSpPr>
        <p:spPr>
          <a:xfrm>
            <a:off x="8029575" y="992453"/>
            <a:ext cx="3549650" cy="3596217"/>
          </a:xfrm>
          <a:prstGeom prst="roundRect">
            <a:avLst>
              <a:gd name="adj" fmla="val 2773"/>
            </a:avLst>
          </a:prstGeom>
          <a:solidFill>
            <a:srgbClr val="FFFFFF"/>
          </a:solidFill>
          <a:ln w="6350">
            <a:solidFill>
              <a:srgbClr val="E6DFCF"/>
            </a:solidFill>
            <a:prstDash val="solid"/>
          </a:ln>
        </p:spPr>
      </p:sp>
      <p:sp>
        <p:nvSpPr>
          <p:cNvPr id="18" name="Text 16"/>
          <p:cNvSpPr/>
          <p:nvPr/>
        </p:nvSpPr>
        <p:spPr>
          <a:xfrm>
            <a:off x="8208434" y="1171311"/>
            <a:ext cx="3287691"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2A1C"/>
                </a:solidFill>
                <a:latin typeface="Georgia" pitchFamily="18" charset="0"/>
                <a:ea typeface="Georgia" pitchFamily="18" charset="-122"/>
                <a:cs typeface="Georgia" pitchFamily="18" charset="-120"/>
              </a:rPr>
              <a:t>3. Rohan, Busy Family Provider</a:t>
            </a:r>
            <a:endParaRPr lang="en-US" sz="1600" dirty="0"/>
          </a:p>
        </p:txBody>
      </p:sp>
      <p:sp>
        <p:nvSpPr>
          <p:cNvPr id="19" name="Text 17"/>
          <p:cNvSpPr/>
          <p:nvPr/>
        </p:nvSpPr>
        <p:spPr>
          <a:xfrm>
            <a:off x="8208434" y="1742811"/>
            <a:ext cx="3287691"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8A5A1C"/>
                </a:solidFill>
                <a:latin typeface="Arial" pitchFamily="34" charset="0"/>
                <a:ea typeface="Arial" pitchFamily="34" charset="-122"/>
                <a:cs typeface="Arial" pitchFamily="34" charset="-120"/>
              </a:rPr>
              <a:t>39 · Married, two children · Sales manager</a:t>
            </a:r>
            <a:endParaRPr lang="en-US" sz="1200" dirty="0"/>
          </a:p>
        </p:txBody>
      </p:sp>
      <p:sp>
        <p:nvSpPr>
          <p:cNvPr id="20" name="Text 18"/>
          <p:cNvSpPr/>
          <p:nvPr/>
        </p:nvSpPr>
        <p:spPr>
          <a:xfrm>
            <a:off x="8208434" y="1996811"/>
            <a:ext cx="3287691" cy="787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Behaviour:</a:t>
            </a:r>
            <a:r>
              <a:rPr lang="en-US" sz="1200" dirty="0">
                <a:solidFill>
                  <a:srgbClr val="1F2A1C"/>
                </a:solidFill>
                <a:latin typeface="Arial" pitchFamily="34" charset="0"/>
                <a:ea typeface="Arial" pitchFamily="34" charset="-122"/>
                <a:cs typeface="Arial" pitchFamily="34" charset="-120"/>
              </a:rPr>
              <a:t> buys via supermarkets and grocery apps; lunchbox and evening snacks; prefers familiar flavours; tries products his family likes.</a:t>
            </a:r>
            <a:endParaRPr lang="en-US" sz="1200" dirty="0"/>
          </a:p>
        </p:txBody>
      </p:sp>
      <p:sp>
        <p:nvSpPr>
          <p:cNvPr id="21" name="Text 19"/>
          <p:cNvSpPr/>
          <p:nvPr/>
        </p:nvSpPr>
        <p:spPr>
          <a:xfrm>
            <a:off x="8208434" y="2822311"/>
            <a:ext cx="3287691"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Goals:</a:t>
            </a:r>
            <a:r>
              <a:rPr lang="en-US" sz="1200" dirty="0">
                <a:solidFill>
                  <a:srgbClr val="1F2A1C"/>
                </a:solidFill>
                <a:latin typeface="Arial" pitchFamily="34" charset="0"/>
                <a:ea typeface="Arial" pitchFamily="34" charset="-122"/>
                <a:cs typeface="Arial" pitchFamily="34" charset="-120"/>
              </a:rPr>
              <a:t> better family choices; snacks for work, school, travel; value.</a:t>
            </a:r>
            <a:endParaRPr lang="en-US" sz="1200" dirty="0"/>
          </a:p>
        </p:txBody>
      </p:sp>
      <p:sp>
        <p:nvSpPr>
          <p:cNvPr id="22" name="Text 20"/>
          <p:cNvSpPr/>
          <p:nvPr/>
        </p:nvSpPr>
        <p:spPr>
          <a:xfrm>
            <a:off x="8208434" y="3266811"/>
            <a:ext cx="3287691"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Pain:</a:t>
            </a:r>
            <a:r>
              <a:rPr lang="en-US" sz="1200" dirty="0">
                <a:solidFill>
                  <a:srgbClr val="1F2A1C"/>
                </a:solidFill>
                <a:latin typeface="Arial" pitchFamily="34" charset="0"/>
                <a:ea typeface="Arial" pitchFamily="34" charset="-122"/>
                <a:cs typeface="Arial" pitchFamily="34" charset="-120"/>
              </a:rPr>
              <a:t> kids reject unfamiliar tastes; too costly for routine; unclear labels.</a:t>
            </a:r>
            <a:endParaRPr lang="en-US" sz="1200" dirty="0"/>
          </a:p>
        </p:txBody>
      </p:sp>
      <p:sp>
        <p:nvSpPr>
          <p:cNvPr id="23" name="Text 21"/>
          <p:cNvSpPr/>
          <p:nvPr/>
        </p:nvSpPr>
        <p:spPr>
          <a:xfrm>
            <a:off x="8208434" y="3711311"/>
            <a:ext cx="3287691" cy="596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2A1C"/>
                </a:solidFill>
                <a:latin typeface="Arial" pitchFamily="34" charset="0"/>
                <a:ea typeface="Arial" pitchFamily="34" charset="-122"/>
                <a:cs typeface="Arial" pitchFamily="34" charset="-120"/>
              </a:rPr>
              <a:t>Opportunity:</a:t>
            </a:r>
            <a:r>
              <a:rPr lang="en-US" sz="1200" dirty="0">
                <a:solidFill>
                  <a:srgbClr val="1F2A1C"/>
                </a:solidFill>
                <a:latin typeface="Arial" pitchFamily="34" charset="0"/>
                <a:ea typeface="Arial" pitchFamily="34" charset="-122"/>
                <a:cs typeface="Arial" pitchFamily="34" charset="-120"/>
              </a:rPr>
              <a:t> family flavours, multipacks, resealable packs; taste and convenience, not diet food.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E"/>
        </a:solidFill>
      </p:bgPr>
    </p:bg>
    <p:spTree>
      <p:nvGrpSpPr>
        <p:cNvPr id="1" name=""/>
        <p:cNvGrpSpPr/>
        <p:nvPr/>
      </p:nvGrpSpPr>
      <p:grpSpPr>
        <a:xfrm>
          <a:off x="0" y="0"/>
          <a:ext cx="0" cy="0"/>
          <a:chOff x="0" y="0"/>
          <a:chExt cx="0" cy="0"/>
        </a:xfrm>
      </p:grpSpPr>
      <p:sp>
        <p:nvSpPr>
          <p:cNvPr id="2" name="Text 0"/>
          <p:cNvSpPr/>
          <p:nvPr>
            <p:ph type="title"/>
          </p:nvPr>
        </p:nvSpPr>
        <p:spPr>
          <a:xfrm>
            <a:off x="609600" y="457200"/>
            <a:ext cx="11301984" cy="405077"/>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1F2A1C"/>
                </a:solidFill>
                <a:latin typeface="Georgia" pitchFamily="18" charset="0"/>
                <a:ea typeface="Georgia" pitchFamily="18" charset="-122"/>
                <a:cs typeface="Georgia" pitchFamily="18" charset="-120"/>
              </a:rPr>
              <a:t>Personas 4–5: trial and performance</a:t>
            </a:r>
            <a:endParaRPr lang="en-US" sz="2600" dirty="0"/>
          </a:p>
        </p:txBody>
      </p:sp>
      <p:sp>
        <p:nvSpPr>
          <p:cNvPr id="3" name="Shape 1"/>
          <p:cNvSpPr/>
          <p:nvPr/>
        </p:nvSpPr>
        <p:spPr>
          <a:xfrm>
            <a:off x="612775" y="992453"/>
            <a:ext cx="5403850" cy="3430522"/>
          </a:xfrm>
          <a:prstGeom prst="roundRect">
            <a:avLst>
              <a:gd name="adj" fmla="val 2869"/>
            </a:avLst>
          </a:prstGeom>
          <a:solidFill>
            <a:srgbClr val="FFFFFF"/>
          </a:solidFill>
          <a:ln w="6350">
            <a:solidFill>
              <a:srgbClr val="E6DFCF"/>
            </a:solidFill>
            <a:prstDash val="solid"/>
          </a:ln>
        </p:spPr>
      </p:sp>
      <p:sp>
        <p:nvSpPr>
          <p:cNvPr id="4" name="Text 2"/>
          <p:cNvSpPr/>
          <p:nvPr/>
        </p:nvSpPr>
        <p:spPr>
          <a:xfrm>
            <a:off x="817033" y="1196711"/>
            <a:ext cx="5145193" cy="306057"/>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F2A1C"/>
                </a:solidFill>
                <a:latin typeface="Georgia" pitchFamily="18" charset="0"/>
                <a:ea typeface="Georgia" pitchFamily="18" charset="-122"/>
                <a:cs typeface="Georgia" pitchFamily="18" charset="-120"/>
              </a:rPr>
              <a:t>4. Aisha, Budget-Conscious Student</a:t>
            </a:r>
            <a:endParaRPr lang="en-US" sz="1700" dirty="0"/>
          </a:p>
        </p:txBody>
      </p:sp>
      <p:sp>
        <p:nvSpPr>
          <p:cNvPr id="5" name="Text 3"/>
          <p:cNvSpPr/>
          <p:nvPr/>
        </p:nvSpPr>
        <p:spPr>
          <a:xfrm>
            <a:off x="817033" y="1553567"/>
            <a:ext cx="5145193"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8A5A1C"/>
                </a:solidFill>
                <a:latin typeface="Arial" pitchFamily="34" charset="0"/>
                <a:ea typeface="Arial" pitchFamily="34" charset="-122"/>
                <a:cs typeface="Arial" pitchFamily="34" charset="-120"/>
              </a:rPr>
              <a:t>23 · University student · Hostel or shared flat</a:t>
            </a:r>
            <a:endParaRPr lang="en-US" sz="1300" dirty="0"/>
          </a:p>
        </p:txBody>
      </p:sp>
      <p:sp>
        <p:nvSpPr>
          <p:cNvPr id="6" name="Text 4"/>
          <p:cNvSpPr/>
          <p:nvPr/>
        </p:nvSpPr>
        <p:spPr>
          <a:xfrm>
            <a:off x="817033" y="1844345"/>
            <a:ext cx="5145193" cy="883708"/>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1C"/>
                </a:solidFill>
                <a:latin typeface="Arial" pitchFamily="34" charset="0"/>
                <a:ea typeface="Arial" pitchFamily="34" charset="-122"/>
                <a:cs typeface="Arial" pitchFamily="34" charset="-120"/>
              </a:rPr>
              <a:t>Behaviour:</a:t>
            </a:r>
            <a:r>
              <a:rPr lang="en-US" sz="1300" dirty="0">
                <a:solidFill>
                  <a:srgbClr val="1F2A1C"/>
                </a:solidFill>
                <a:latin typeface="Arial" pitchFamily="34" charset="0"/>
                <a:ea typeface="Arial" pitchFamily="34" charset="-122"/>
                <a:cs typeface="Arial" pitchFamily="34" charset="-120"/>
              </a:rPr>
              <a:t> snacks during lectures, study and late-night assignments; buys at campus shops, convenience stores, quick commerce; influenced by friends, creators, discounts; prioritises price, flavour, portion size.</a:t>
            </a:r>
            <a:endParaRPr lang="en-US" sz="1300" dirty="0"/>
          </a:p>
        </p:txBody>
      </p:sp>
      <p:sp>
        <p:nvSpPr>
          <p:cNvPr id="7" name="Text 5"/>
          <p:cNvSpPr/>
          <p:nvPr/>
        </p:nvSpPr>
        <p:spPr>
          <a:xfrm>
            <a:off x="817033" y="2778854"/>
            <a:ext cx="5145193"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1C"/>
                </a:solidFill>
                <a:latin typeface="Arial" pitchFamily="34" charset="0"/>
                <a:ea typeface="Arial" pitchFamily="34" charset="-122"/>
                <a:cs typeface="Arial" pitchFamily="34" charset="-120"/>
              </a:rPr>
              <a:t>Goals:</a:t>
            </a:r>
            <a:r>
              <a:rPr lang="en-US" sz="1300" dirty="0">
                <a:solidFill>
                  <a:srgbClr val="1F2A1C"/>
                </a:solidFill>
                <a:latin typeface="Arial" pitchFamily="34" charset="0"/>
                <a:ea typeface="Arial" pitchFamily="34" charset="-122"/>
                <a:cs typeface="Arial" pitchFamily="34" charset="-120"/>
              </a:rPr>
              <a:t> affordable, filling snacks; new flavours to share; healthier within budget.</a:t>
            </a:r>
            <a:endParaRPr lang="en-US" sz="1300" dirty="0"/>
          </a:p>
        </p:txBody>
      </p:sp>
      <p:sp>
        <p:nvSpPr>
          <p:cNvPr id="8" name="Text 6"/>
          <p:cNvSpPr/>
          <p:nvPr/>
        </p:nvSpPr>
        <p:spPr>
          <a:xfrm>
            <a:off x="817033" y="3284207"/>
            <a:ext cx="5145193"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1C"/>
                </a:solidFill>
                <a:latin typeface="Arial" pitchFamily="34" charset="0"/>
                <a:ea typeface="Arial" pitchFamily="34" charset="-122"/>
                <a:cs typeface="Arial" pitchFamily="34" charset="-120"/>
              </a:rPr>
              <a:t>Pain:</a:t>
            </a:r>
            <a:r>
              <a:rPr lang="en-US" sz="1300" dirty="0">
                <a:solidFill>
                  <a:srgbClr val="1F2A1C"/>
                </a:solidFill>
                <a:latin typeface="Arial" pitchFamily="34" charset="0"/>
                <a:ea typeface="Arial" pitchFamily="34" charset="-122"/>
                <a:cs typeface="Arial" pitchFamily="34" charset="-120"/>
              </a:rPr>
              <a:t> pricier than conventional; small packs feel poor value; limited campus availability; health branding feels intimidating or adult.</a:t>
            </a:r>
            <a:endParaRPr lang="en-US" sz="1300" dirty="0"/>
          </a:p>
        </p:txBody>
      </p:sp>
      <p:sp>
        <p:nvSpPr>
          <p:cNvPr id="9" name="Text 7"/>
          <p:cNvSpPr/>
          <p:nvPr/>
        </p:nvSpPr>
        <p:spPr>
          <a:xfrm>
            <a:off x="817033" y="3789561"/>
            <a:ext cx="5145193"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1C"/>
                </a:solidFill>
                <a:latin typeface="Arial" pitchFamily="34" charset="0"/>
                <a:ea typeface="Arial" pitchFamily="34" charset="-122"/>
                <a:cs typeface="Arial" pitchFamily="34" charset="-120"/>
              </a:rPr>
              <a:t>Opportunity:</a:t>
            </a:r>
            <a:r>
              <a:rPr lang="en-US" sz="1300" dirty="0">
                <a:solidFill>
                  <a:srgbClr val="1F2A1C"/>
                </a:solidFill>
                <a:latin typeface="Arial" pitchFamily="34" charset="0"/>
                <a:ea typeface="Arial" pitchFamily="34" charset="-122"/>
                <a:cs typeface="Arial" pitchFamily="34" charset="-120"/>
              </a:rPr>
              <a:t> trial packs, student bundles, intro offers, shareable flavours, relatable social content, campus sampling.</a:t>
            </a:r>
            <a:endParaRPr lang="en-US" sz="1300" dirty="0"/>
          </a:p>
        </p:txBody>
      </p:sp>
      <p:sp>
        <p:nvSpPr>
          <p:cNvPr id="10" name="Shape 8"/>
          <p:cNvSpPr/>
          <p:nvPr/>
        </p:nvSpPr>
        <p:spPr>
          <a:xfrm>
            <a:off x="6175375" y="992453"/>
            <a:ext cx="5403850" cy="3430522"/>
          </a:xfrm>
          <a:prstGeom prst="roundRect">
            <a:avLst>
              <a:gd name="adj" fmla="val 2869"/>
            </a:avLst>
          </a:prstGeom>
          <a:solidFill>
            <a:srgbClr val="FFFFFF"/>
          </a:solidFill>
          <a:ln w="6350">
            <a:solidFill>
              <a:srgbClr val="E6DFCF"/>
            </a:solidFill>
            <a:prstDash val="solid"/>
          </a:ln>
        </p:spPr>
      </p:sp>
      <p:sp>
        <p:nvSpPr>
          <p:cNvPr id="11" name="Text 9"/>
          <p:cNvSpPr/>
          <p:nvPr/>
        </p:nvSpPr>
        <p:spPr>
          <a:xfrm>
            <a:off x="6379633" y="1196711"/>
            <a:ext cx="5145193" cy="306057"/>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F2A1C"/>
                </a:solidFill>
                <a:latin typeface="Georgia" pitchFamily="18" charset="0"/>
                <a:ea typeface="Georgia" pitchFamily="18" charset="-122"/>
                <a:cs typeface="Georgia" pitchFamily="18" charset="-120"/>
              </a:rPr>
              <a:t>5. Karan, Fitness-Focused Optimiser</a:t>
            </a:r>
            <a:endParaRPr lang="en-US" sz="1700" dirty="0"/>
          </a:p>
        </p:txBody>
      </p:sp>
      <p:sp>
        <p:nvSpPr>
          <p:cNvPr id="12" name="Text 10"/>
          <p:cNvSpPr/>
          <p:nvPr/>
        </p:nvSpPr>
        <p:spPr>
          <a:xfrm>
            <a:off x="6379633" y="1553567"/>
            <a:ext cx="5145193" cy="239977"/>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8A5A1C"/>
                </a:solidFill>
                <a:latin typeface="Arial" pitchFamily="34" charset="0"/>
                <a:ea typeface="Arial" pitchFamily="34" charset="-122"/>
                <a:cs typeface="Arial" pitchFamily="34" charset="-120"/>
              </a:rPr>
              <a:t>31 · Single · Consultant and gym-goer</a:t>
            </a:r>
            <a:endParaRPr lang="en-US" sz="1300" dirty="0"/>
          </a:p>
        </p:txBody>
      </p:sp>
      <p:sp>
        <p:nvSpPr>
          <p:cNvPr id="13" name="Text 11"/>
          <p:cNvSpPr/>
          <p:nvPr/>
        </p:nvSpPr>
        <p:spPr>
          <a:xfrm>
            <a:off x="6379633" y="1844345"/>
            <a:ext cx="5145193" cy="66913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1C"/>
                </a:solidFill>
                <a:latin typeface="Arial" pitchFamily="34" charset="0"/>
                <a:ea typeface="Arial" pitchFamily="34" charset="-122"/>
                <a:cs typeface="Arial" pitchFamily="34" charset="-120"/>
              </a:rPr>
              <a:t>Behaviour:</a:t>
            </a:r>
            <a:r>
              <a:rPr lang="en-US" sz="1300" dirty="0">
                <a:solidFill>
                  <a:srgbClr val="1F2A1C"/>
                </a:solidFill>
                <a:latin typeface="Arial" pitchFamily="34" charset="0"/>
                <a:ea typeface="Arial" pitchFamily="34" charset="-122"/>
                <a:cs typeface="Arial" pitchFamily="34" charset="-120"/>
              </a:rPr>
              <a:t> exercises several times a week; follows fitness creators; reads labels and compares; buys in bulk online once he trusts a product; values portability and portion control.</a:t>
            </a:r>
            <a:endParaRPr lang="en-US" sz="1300" dirty="0"/>
          </a:p>
        </p:txBody>
      </p:sp>
      <p:sp>
        <p:nvSpPr>
          <p:cNvPr id="14" name="Text 12"/>
          <p:cNvSpPr/>
          <p:nvPr/>
        </p:nvSpPr>
        <p:spPr>
          <a:xfrm>
            <a:off x="6379633" y="2564276"/>
            <a:ext cx="5145193"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1C"/>
                </a:solidFill>
                <a:latin typeface="Arial" pitchFamily="34" charset="0"/>
                <a:ea typeface="Arial" pitchFamily="34" charset="-122"/>
                <a:cs typeface="Arial" pitchFamily="34" charset="-120"/>
              </a:rPr>
              <a:t>Goals:</a:t>
            </a:r>
            <a:r>
              <a:rPr lang="en-US" sz="1300" dirty="0">
                <a:solidFill>
                  <a:srgbClr val="1F2A1C"/>
                </a:solidFill>
                <a:latin typeface="Arial" pitchFamily="34" charset="0"/>
                <a:ea typeface="Arial" pitchFamily="34" charset="-122"/>
                <a:cs typeface="Arial" pitchFamily="34" charset="-120"/>
              </a:rPr>
              <a:t> snacks that fit his nutrition goals; manage hunger at work and while travelling; credible information over marketing.</a:t>
            </a:r>
            <a:endParaRPr lang="en-US" sz="1300" dirty="0"/>
          </a:p>
        </p:txBody>
      </p:sp>
      <p:sp>
        <p:nvSpPr>
          <p:cNvPr id="15" name="Text 13"/>
          <p:cNvSpPr/>
          <p:nvPr/>
        </p:nvSpPr>
        <p:spPr>
          <a:xfrm>
            <a:off x="6379633" y="3069630"/>
            <a:ext cx="5145193" cy="66913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1C"/>
                </a:solidFill>
                <a:latin typeface="Arial" pitchFamily="34" charset="0"/>
                <a:ea typeface="Arial" pitchFamily="34" charset="-122"/>
                <a:cs typeface="Arial" pitchFamily="34" charset="-120"/>
              </a:rPr>
              <a:t>Pain:</a:t>
            </a:r>
            <a:r>
              <a:rPr lang="en-US" sz="1300" dirty="0">
                <a:solidFill>
                  <a:srgbClr val="1F2A1C"/>
                </a:solidFill>
                <a:latin typeface="Arial" pitchFamily="34" charset="0"/>
                <a:ea typeface="Arial" pitchFamily="34" charset="-122"/>
                <a:cs typeface="Arial" pitchFamily="34" charset="-120"/>
              </a:rPr>
              <a:t> fitness claims without substance; hard to match macros; inconvenient or unavailable when travelling; sceptical of exaggerated protein claims.</a:t>
            </a:r>
            <a:endParaRPr lang="en-US" sz="1300" dirty="0"/>
          </a:p>
        </p:txBody>
      </p:sp>
      <p:sp>
        <p:nvSpPr>
          <p:cNvPr id="16" name="Text 14"/>
          <p:cNvSpPr/>
          <p:nvPr/>
        </p:nvSpPr>
        <p:spPr>
          <a:xfrm>
            <a:off x="6379633" y="3789561"/>
            <a:ext cx="5145193"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A1C"/>
                </a:solidFill>
                <a:latin typeface="Arial" pitchFamily="34" charset="0"/>
                <a:ea typeface="Arial" pitchFamily="34" charset="-122"/>
                <a:cs typeface="Arial" pitchFamily="34" charset="-120"/>
              </a:rPr>
              <a:t>Opportunity:</a:t>
            </a:r>
            <a:r>
              <a:rPr lang="en-US" sz="1300" dirty="0">
                <a:solidFill>
                  <a:srgbClr val="1F2A1C"/>
                </a:solidFill>
                <a:latin typeface="Arial" pitchFamily="34" charset="0"/>
                <a:ea typeface="Arial" pitchFamily="34" charset="-122"/>
                <a:cs typeface="Arial" pitchFamily="34" charset="-120"/>
              </a:rPr>
              <a:t> if formulation supports it, substantiated protein and fibre claims, precise serving sizes, multipacks for repeat purchase.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2A1C"/>
        </a:solidFill>
      </p:bgPr>
    </p:bg>
    <p:spTree>
      <p:nvGrpSpPr>
        <p:cNvPr id="1" name=""/>
        <p:cNvGrpSpPr/>
        <p:nvPr/>
      </p:nvGrpSpPr>
      <p:grpSpPr>
        <a:xfrm>
          <a:off x="0" y="0"/>
          <a:ext cx="0" cy="0"/>
          <a:chOff x="0" y="0"/>
          <a:chExt cx="0" cy="0"/>
        </a:xfrm>
      </p:grpSpPr>
      <p:sp>
        <p:nvSpPr>
          <p:cNvPr id="2" name="Text 0"/>
          <p:cNvSpPr/>
          <p:nvPr>
            <p:ph type="title"/>
          </p:nvPr>
        </p:nvSpPr>
        <p:spPr>
          <a:xfrm>
            <a:off x="609600" y="457200"/>
            <a:ext cx="11301984" cy="405077"/>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FAF6EE"/>
                </a:solidFill>
                <a:latin typeface="Georgia" pitchFamily="18" charset="0"/>
                <a:ea typeface="Georgia" pitchFamily="18" charset="-122"/>
                <a:cs typeface="Georgia" pitchFamily="18" charset="-120"/>
              </a:rPr>
              <a:t>Tribe analysis: five consumer groups</a:t>
            </a:r>
            <a:endParaRPr lang="en-US" sz="2600" dirty="0"/>
          </a:p>
        </p:txBody>
      </p:sp>
      <p:sp>
        <p:nvSpPr>
          <p:cNvPr id="3" name="Text 1"/>
          <p:cNvSpPr/>
          <p:nvPr/>
        </p:nvSpPr>
        <p:spPr>
          <a:xfrm>
            <a:off x="609600" y="963878"/>
            <a:ext cx="11301984" cy="669131"/>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8DFD0"/>
                </a:solidFill>
                <a:latin typeface="Arial" pitchFamily="34" charset="0"/>
                <a:ea typeface="Arial" pitchFamily="34" charset="-122"/>
                <a:cs typeface="Arial" pitchFamily="34" charset="-120"/>
              </a:rPr>
              <a:t>A persona describes an individual; a tribe groups people with shared motivations, behaviours and attitudes to snacking. NielsenIQ (2025) shows more intentional snacking with affordability, nutrition and convenience mattering; Mintel (2025) identifies snack enthusiasts, mindful social snackers, conventional health seekers and health rejectors.</a:t>
            </a:r>
            <a:endParaRPr lang="en-US" sz="1300" dirty="0"/>
          </a:p>
        </p:txBody>
      </p:sp>
      <p:sp>
        <p:nvSpPr>
          <p:cNvPr id="4" name="Shape 2"/>
          <p:cNvSpPr/>
          <p:nvPr/>
        </p:nvSpPr>
        <p:spPr>
          <a:xfrm>
            <a:off x="609600" y="1734609"/>
            <a:ext cx="2113227" cy="2565400"/>
          </a:xfrm>
          <a:prstGeom prst="roundRect">
            <a:avLst>
              <a:gd name="adj" fmla="val 4207"/>
            </a:avLst>
          </a:prstGeom>
          <a:solidFill>
            <a:srgbClr val="2C3A28"/>
          </a:solidFill>
          <a:ln/>
        </p:spPr>
      </p:sp>
      <p:sp>
        <p:nvSpPr>
          <p:cNvPr id="5" name="Text 3"/>
          <p:cNvSpPr/>
          <p:nvPr/>
        </p:nvSpPr>
        <p:spPr>
          <a:xfrm>
            <a:off x="736600" y="1861609"/>
            <a:ext cx="191500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E9A35A"/>
                </a:solidFill>
                <a:latin typeface="Arial" pitchFamily="34" charset="0"/>
                <a:ea typeface="Arial" pitchFamily="34" charset="-122"/>
                <a:cs typeface="Arial" pitchFamily="34" charset="-120"/>
              </a:rPr>
              <a:t>1. Guilty Indulgers</a:t>
            </a:r>
            <a:endParaRPr lang="en-US" sz="1400" dirty="0"/>
          </a:p>
        </p:txBody>
      </p:sp>
      <p:sp>
        <p:nvSpPr>
          <p:cNvPr id="6" name="Text 4"/>
          <p:cNvSpPr/>
          <p:nvPr/>
        </p:nvSpPr>
        <p:spPr>
          <a:xfrm>
            <a:off x="736600" y="2134659"/>
            <a:ext cx="1915004" cy="215900"/>
          </a:xfrm>
          <a:prstGeom prst="rect">
            <a:avLst/>
          </a:prstGeom>
          <a:noFill/>
          <a:ln/>
        </p:spPr>
        <p:txBody>
          <a:bodyPr wrap="square" lIns="0" tIns="0" rIns="0" bIns="0" rtlCol="0" anchor="t">
            <a:normAutofit/>
          </a:bodyPr>
          <a:lstStyle/>
          <a:p>
            <a:pPr algn="l" indent="0" marL="0">
              <a:lnSpc>
                <a:spcPts val="1500"/>
              </a:lnSpc>
              <a:buNone/>
            </a:pPr>
            <a:r>
              <a:rPr lang="en-US" sz="1200" i="1" dirty="0">
                <a:solidFill>
                  <a:srgbClr val="FAF6EE"/>
                </a:solidFill>
                <a:latin typeface="Arial" pitchFamily="34" charset="0"/>
                <a:ea typeface="Arial" pitchFamily="34" charset="-122"/>
                <a:cs typeface="Arial" pitchFamily="34" charset="-120"/>
              </a:rPr>
              <a:t>Arjun</a:t>
            </a:r>
            <a:endParaRPr lang="en-US" sz="1200" dirty="0"/>
          </a:p>
        </p:txBody>
      </p:sp>
      <p:sp>
        <p:nvSpPr>
          <p:cNvPr id="7" name="Text 5"/>
          <p:cNvSpPr/>
          <p:nvPr/>
        </p:nvSpPr>
        <p:spPr>
          <a:xfrm>
            <a:off x="736600" y="2375959"/>
            <a:ext cx="1915004"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AF6EE"/>
                </a:solidFill>
                <a:latin typeface="Arial" pitchFamily="34" charset="0"/>
                <a:ea typeface="Arial" pitchFamily="34" charset="-122"/>
                <a:cs typeface="Arial" pitchFamily="34" charset="-120"/>
              </a:rPr>
              <a:t>Love snacking but feel conflicted; want taste, crunch and pleasure.</a:t>
            </a:r>
            <a:endParaRPr lang="en-US" sz="1200" dirty="0"/>
          </a:p>
        </p:txBody>
      </p:sp>
      <p:sp>
        <p:nvSpPr>
          <p:cNvPr id="8" name="Text 6"/>
          <p:cNvSpPr/>
          <p:nvPr/>
        </p:nvSpPr>
        <p:spPr>
          <a:xfrm>
            <a:off x="736600" y="2998259"/>
            <a:ext cx="1915004" cy="787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AF6EE"/>
                </a:solidFill>
                <a:latin typeface="Arial" pitchFamily="34" charset="0"/>
                <a:ea typeface="Arial" pitchFamily="34" charset="-122"/>
                <a:cs typeface="Arial" pitchFamily="34" charset="-120"/>
              </a:rPr>
              <a:t>Need:</a:t>
            </a:r>
            <a:r>
              <a:rPr lang="en-US" sz="1200" dirty="0">
                <a:solidFill>
                  <a:srgbClr val="FAF6EE"/>
                </a:solidFill>
                <a:latin typeface="Arial" pitchFamily="34" charset="0"/>
                <a:ea typeface="Arial" pitchFamily="34" charset="-122"/>
                <a:cs typeface="Arial" pitchFamily="34" charset="-120"/>
              </a:rPr>
              <a:t> tasty swaps, convenient portions, satisfying flavours, non-judgmental messaging.</a:t>
            </a:r>
            <a:endParaRPr lang="en-US" sz="1200" dirty="0"/>
          </a:p>
        </p:txBody>
      </p:sp>
      <p:sp>
        <p:nvSpPr>
          <p:cNvPr id="9" name="Shape 7"/>
          <p:cNvSpPr/>
          <p:nvPr/>
        </p:nvSpPr>
        <p:spPr>
          <a:xfrm>
            <a:off x="2824427" y="1734609"/>
            <a:ext cx="2113293" cy="2565400"/>
          </a:xfrm>
          <a:prstGeom prst="roundRect">
            <a:avLst>
              <a:gd name="adj" fmla="val 4207"/>
            </a:avLst>
          </a:prstGeom>
          <a:solidFill>
            <a:srgbClr val="2C3A28"/>
          </a:solidFill>
          <a:ln/>
        </p:spPr>
      </p:sp>
      <p:sp>
        <p:nvSpPr>
          <p:cNvPr id="10" name="Text 8"/>
          <p:cNvSpPr/>
          <p:nvPr/>
        </p:nvSpPr>
        <p:spPr>
          <a:xfrm>
            <a:off x="2951427" y="1861609"/>
            <a:ext cx="1915072"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E9A35A"/>
                </a:solidFill>
                <a:latin typeface="Arial" pitchFamily="34" charset="0"/>
                <a:ea typeface="Arial" pitchFamily="34" charset="-122"/>
                <a:cs typeface="Arial" pitchFamily="34" charset="-120"/>
              </a:rPr>
              <a:t>2. Mindful Wellness Seekers</a:t>
            </a:r>
            <a:endParaRPr lang="en-US" sz="1400" dirty="0"/>
          </a:p>
        </p:txBody>
      </p:sp>
      <p:sp>
        <p:nvSpPr>
          <p:cNvPr id="11" name="Text 9"/>
          <p:cNvSpPr/>
          <p:nvPr/>
        </p:nvSpPr>
        <p:spPr>
          <a:xfrm>
            <a:off x="2951427" y="2356909"/>
            <a:ext cx="1915072" cy="215900"/>
          </a:xfrm>
          <a:prstGeom prst="rect">
            <a:avLst/>
          </a:prstGeom>
          <a:noFill/>
          <a:ln/>
        </p:spPr>
        <p:txBody>
          <a:bodyPr wrap="square" lIns="0" tIns="0" rIns="0" bIns="0" rtlCol="0" anchor="t">
            <a:normAutofit/>
          </a:bodyPr>
          <a:lstStyle/>
          <a:p>
            <a:pPr algn="l" indent="0" marL="0">
              <a:lnSpc>
                <a:spcPts val="1500"/>
              </a:lnSpc>
              <a:buNone/>
            </a:pPr>
            <a:r>
              <a:rPr lang="en-US" sz="1200" i="1" dirty="0">
                <a:solidFill>
                  <a:srgbClr val="FAF6EE"/>
                </a:solidFill>
                <a:latin typeface="Arial" pitchFamily="34" charset="0"/>
                <a:ea typeface="Arial" pitchFamily="34" charset="-122"/>
                <a:cs typeface="Arial" pitchFamily="34" charset="-120"/>
              </a:rPr>
              <a:t>Priya</a:t>
            </a:r>
            <a:endParaRPr lang="en-US" sz="1200" dirty="0"/>
          </a:p>
        </p:txBody>
      </p:sp>
      <p:sp>
        <p:nvSpPr>
          <p:cNvPr id="12" name="Text 10"/>
          <p:cNvSpPr/>
          <p:nvPr/>
        </p:nvSpPr>
        <p:spPr>
          <a:xfrm>
            <a:off x="2951427" y="2598209"/>
            <a:ext cx="1915072"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AF6EE"/>
                </a:solidFill>
                <a:latin typeface="Arial" pitchFamily="34" charset="0"/>
                <a:ea typeface="Arial" pitchFamily="34" charset="-122"/>
                <a:cs typeface="Arial" pitchFamily="34" charset="-120"/>
              </a:rPr>
              <a:t>Seek products for wellness goals; curious but wary of misleading claims.</a:t>
            </a:r>
            <a:endParaRPr lang="en-US" sz="1200" dirty="0"/>
          </a:p>
        </p:txBody>
      </p:sp>
      <p:sp>
        <p:nvSpPr>
          <p:cNvPr id="13" name="Text 11"/>
          <p:cNvSpPr/>
          <p:nvPr/>
        </p:nvSpPr>
        <p:spPr>
          <a:xfrm>
            <a:off x="2951427" y="3220509"/>
            <a:ext cx="1915072" cy="787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AF6EE"/>
                </a:solidFill>
                <a:latin typeface="Arial" pitchFamily="34" charset="0"/>
                <a:ea typeface="Arial" pitchFamily="34" charset="-122"/>
                <a:cs typeface="Arial" pitchFamily="34" charset="-120"/>
              </a:rPr>
              <a:t>Need:</a:t>
            </a:r>
            <a:r>
              <a:rPr lang="en-US" sz="1200" dirty="0">
                <a:solidFill>
                  <a:srgbClr val="FAF6EE"/>
                </a:solidFill>
                <a:latin typeface="Arial" pitchFamily="34" charset="0"/>
                <a:ea typeface="Arial" pitchFamily="34" charset="-122"/>
                <a:cs typeface="Arial" pitchFamily="34" charset="-120"/>
              </a:rPr>
              <a:t> transparent labels, credible benefits, appealing flavours, easy online discovery.</a:t>
            </a:r>
            <a:endParaRPr lang="en-US" sz="1200" dirty="0"/>
          </a:p>
        </p:txBody>
      </p:sp>
      <p:sp>
        <p:nvSpPr>
          <p:cNvPr id="14" name="Shape 12"/>
          <p:cNvSpPr/>
          <p:nvPr/>
        </p:nvSpPr>
        <p:spPr>
          <a:xfrm>
            <a:off x="5039320" y="1734609"/>
            <a:ext cx="2113293" cy="2565400"/>
          </a:xfrm>
          <a:prstGeom prst="roundRect">
            <a:avLst>
              <a:gd name="adj" fmla="val 4207"/>
            </a:avLst>
          </a:prstGeom>
          <a:solidFill>
            <a:srgbClr val="2C3A28"/>
          </a:solidFill>
          <a:ln/>
        </p:spPr>
      </p:sp>
      <p:sp>
        <p:nvSpPr>
          <p:cNvPr id="15" name="Text 13"/>
          <p:cNvSpPr/>
          <p:nvPr/>
        </p:nvSpPr>
        <p:spPr>
          <a:xfrm>
            <a:off x="5166320" y="1861609"/>
            <a:ext cx="1915072"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E9A35A"/>
                </a:solidFill>
                <a:latin typeface="Arial" pitchFamily="34" charset="0"/>
                <a:ea typeface="Arial" pitchFamily="34" charset="-122"/>
                <a:cs typeface="Arial" pitchFamily="34" charset="-120"/>
              </a:rPr>
              <a:t>3. Family-First Planners</a:t>
            </a:r>
            <a:endParaRPr lang="en-US" sz="1400" dirty="0"/>
          </a:p>
        </p:txBody>
      </p:sp>
      <p:sp>
        <p:nvSpPr>
          <p:cNvPr id="16" name="Text 14"/>
          <p:cNvSpPr/>
          <p:nvPr/>
        </p:nvSpPr>
        <p:spPr>
          <a:xfrm>
            <a:off x="5166320" y="2356909"/>
            <a:ext cx="1915072" cy="215900"/>
          </a:xfrm>
          <a:prstGeom prst="rect">
            <a:avLst/>
          </a:prstGeom>
          <a:noFill/>
          <a:ln/>
        </p:spPr>
        <p:txBody>
          <a:bodyPr wrap="square" lIns="0" tIns="0" rIns="0" bIns="0" rtlCol="0" anchor="t">
            <a:normAutofit/>
          </a:bodyPr>
          <a:lstStyle/>
          <a:p>
            <a:pPr algn="l" indent="0" marL="0">
              <a:lnSpc>
                <a:spcPts val="1500"/>
              </a:lnSpc>
              <a:buNone/>
            </a:pPr>
            <a:r>
              <a:rPr lang="en-US" sz="1200" i="1" dirty="0">
                <a:solidFill>
                  <a:srgbClr val="FAF6EE"/>
                </a:solidFill>
                <a:latin typeface="Arial" pitchFamily="34" charset="0"/>
                <a:ea typeface="Arial" pitchFamily="34" charset="-122"/>
                <a:cs typeface="Arial" pitchFamily="34" charset="-120"/>
              </a:rPr>
              <a:t>Rohan</a:t>
            </a:r>
            <a:endParaRPr lang="en-US" sz="1200" dirty="0"/>
          </a:p>
        </p:txBody>
      </p:sp>
      <p:sp>
        <p:nvSpPr>
          <p:cNvPr id="17" name="Text 15"/>
          <p:cNvSpPr/>
          <p:nvPr/>
        </p:nvSpPr>
        <p:spPr>
          <a:xfrm>
            <a:off x="5166320" y="2598209"/>
            <a:ext cx="1915072"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AF6EE"/>
                </a:solidFill>
                <a:latin typeface="Arial" pitchFamily="34" charset="0"/>
                <a:ea typeface="Arial" pitchFamily="34" charset="-122"/>
                <a:cs typeface="Arial" pitchFamily="34" charset="-120"/>
              </a:rPr>
              <a:t>Shop for several people; want dependable quality, familiar flavours, value.</a:t>
            </a:r>
            <a:endParaRPr lang="en-US" sz="1200" dirty="0"/>
          </a:p>
        </p:txBody>
      </p:sp>
      <p:sp>
        <p:nvSpPr>
          <p:cNvPr id="18" name="Text 16"/>
          <p:cNvSpPr/>
          <p:nvPr/>
        </p:nvSpPr>
        <p:spPr>
          <a:xfrm>
            <a:off x="5166320" y="3220509"/>
            <a:ext cx="1915072" cy="787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AF6EE"/>
                </a:solidFill>
                <a:latin typeface="Arial" pitchFamily="34" charset="0"/>
                <a:ea typeface="Arial" pitchFamily="34" charset="-122"/>
                <a:cs typeface="Arial" pitchFamily="34" charset="-120"/>
              </a:rPr>
              <a:t>Need:</a:t>
            </a:r>
            <a:r>
              <a:rPr lang="en-US" sz="1200" dirty="0">
                <a:solidFill>
                  <a:srgbClr val="FAF6EE"/>
                </a:solidFill>
                <a:latin typeface="Arial" pitchFamily="34" charset="0"/>
                <a:ea typeface="Arial" pitchFamily="34" charset="-122"/>
                <a:cs typeface="Arial" pitchFamily="34" charset="-120"/>
              </a:rPr>
              <a:t> family packs, clear info, accessible pricing, flavours for adults and children.</a:t>
            </a:r>
            <a:endParaRPr lang="en-US" sz="1200" dirty="0"/>
          </a:p>
        </p:txBody>
      </p:sp>
      <p:sp>
        <p:nvSpPr>
          <p:cNvPr id="19" name="Shape 17"/>
          <p:cNvSpPr/>
          <p:nvPr/>
        </p:nvSpPr>
        <p:spPr>
          <a:xfrm>
            <a:off x="7254214" y="1734609"/>
            <a:ext cx="2113293" cy="2565400"/>
          </a:xfrm>
          <a:prstGeom prst="roundRect">
            <a:avLst>
              <a:gd name="adj" fmla="val 4207"/>
            </a:avLst>
          </a:prstGeom>
          <a:solidFill>
            <a:srgbClr val="2C3A28"/>
          </a:solidFill>
          <a:ln/>
        </p:spPr>
      </p:sp>
      <p:sp>
        <p:nvSpPr>
          <p:cNvPr id="20" name="Text 18"/>
          <p:cNvSpPr/>
          <p:nvPr/>
        </p:nvSpPr>
        <p:spPr>
          <a:xfrm>
            <a:off x="7381214" y="1861609"/>
            <a:ext cx="1915072"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E9A35A"/>
                </a:solidFill>
                <a:latin typeface="Arial" pitchFamily="34" charset="0"/>
                <a:ea typeface="Arial" pitchFamily="34" charset="-122"/>
                <a:cs typeface="Arial" pitchFamily="34" charset="-120"/>
              </a:rPr>
              <a:t>4. Social and Trend-Driven Snackers</a:t>
            </a:r>
            <a:endParaRPr lang="en-US" sz="1400" dirty="0"/>
          </a:p>
        </p:txBody>
      </p:sp>
      <p:sp>
        <p:nvSpPr>
          <p:cNvPr id="21" name="Text 19"/>
          <p:cNvSpPr/>
          <p:nvPr/>
        </p:nvSpPr>
        <p:spPr>
          <a:xfrm>
            <a:off x="7381214" y="2356909"/>
            <a:ext cx="1915072" cy="215900"/>
          </a:xfrm>
          <a:prstGeom prst="rect">
            <a:avLst/>
          </a:prstGeom>
          <a:noFill/>
          <a:ln/>
        </p:spPr>
        <p:txBody>
          <a:bodyPr wrap="square" lIns="0" tIns="0" rIns="0" bIns="0" rtlCol="0" anchor="t">
            <a:normAutofit/>
          </a:bodyPr>
          <a:lstStyle/>
          <a:p>
            <a:pPr algn="l" indent="0" marL="0">
              <a:lnSpc>
                <a:spcPts val="1500"/>
              </a:lnSpc>
              <a:buNone/>
            </a:pPr>
            <a:r>
              <a:rPr lang="en-US" sz="1200" i="1" dirty="0">
                <a:solidFill>
                  <a:srgbClr val="FAF6EE"/>
                </a:solidFill>
                <a:latin typeface="Arial" pitchFamily="34" charset="0"/>
                <a:ea typeface="Arial" pitchFamily="34" charset="-122"/>
                <a:cs typeface="Arial" pitchFamily="34" charset="-120"/>
              </a:rPr>
              <a:t>Aisha</a:t>
            </a:r>
            <a:endParaRPr lang="en-US" sz="1200" dirty="0"/>
          </a:p>
        </p:txBody>
      </p:sp>
      <p:sp>
        <p:nvSpPr>
          <p:cNvPr id="22" name="Text 20"/>
          <p:cNvSpPr/>
          <p:nvPr/>
        </p:nvSpPr>
        <p:spPr>
          <a:xfrm>
            <a:off x="7381214" y="2598209"/>
            <a:ext cx="1915072" cy="787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AF6EE"/>
                </a:solidFill>
                <a:latin typeface="Arial" pitchFamily="34" charset="0"/>
                <a:ea typeface="Arial" pitchFamily="34" charset="-122"/>
                <a:cs typeface="Arial" pitchFamily="34" charset="-120"/>
              </a:rPr>
              <a:t>Discover via friends, creators, trends; enjoy experimenting; price and social-proof sensitive.</a:t>
            </a:r>
            <a:endParaRPr lang="en-US" sz="1200" dirty="0"/>
          </a:p>
        </p:txBody>
      </p:sp>
      <p:sp>
        <p:nvSpPr>
          <p:cNvPr id="23" name="Text 21"/>
          <p:cNvSpPr/>
          <p:nvPr/>
        </p:nvSpPr>
        <p:spPr>
          <a:xfrm>
            <a:off x="7381214" y="3411009"/>
            <a:ext cx="1915072" cy="787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AF6EE"/>
                </a:solidFill>
                <a:latin typeface="Arial" pitchFamily="34" charset="0"/>
                <a:ea typeface="Arial" pitchFamily="34" charset="-122"/>
                <a:cs typeface="Arial" pitchFamily="34" charset="-120"/>
              </a:rPr>
              <a:t>Need:</a:t>
            </a:r>
            <a:r>
              <a:rPr lang="en-US" sz="1200" dirty="0">
                <a:solidFill>
                  <a:srgbClr val="FAF6EE"/>
                </a:solidFill>
                <a:latin typeface="Arial" pitchFamily="34" charset="0"/>
                <a:ea typeface="Arial" pitchFamily="34" charset="-122"/>
                <a:cs typeface="Arial" pitchFamily="34" charset="-120"/>
              </a:rPr>
              <a:t> affordable trial packs, bold shareable flavours, engaging social content.</a:t>
            </a:r>
            <a:endParaRPr lang="en-US" sz="1200" dirty="0"/>
          </a:p>
        </p:txBody>
      </p:sp>
      <p:sp>
        <p:nvSpPr>
          <p:cNvPr id="24" name="Shape 22"/>
          <p:cNvSpPr/>
          <p:nvPr/>
        </p:nvSpPr>
        <p:spPr>
          <a:xfrm>
            <a:off x="9469107" y="1734609"/>
            <a:ext cx="2113293" cy="2565400"/>
          </a:xfrm>
          <a:prstGeom prst="roundRect">
            <a:avLst>
              <a:gd name="adj" fmla="val 4207"/>
            </a:avLst>
          </a:prstGeom>
          <a:solidFill>
            <a:srgbClr val="2C3A28"/>
          </a:solidFill>
          <a:ln/>
        </p:spPr>
      </p:sp>
      <p:sp>
        <p:nvSpPr>
          <p:cNvPr id="25" name="Text 23"/>
          <p:cNvSpPr/>
          <p:nvPr/>
        </p:nvSpPr>
        <p:spPr>
          <a:xfrm>
            <a:off x="9596107" y="1861609"/>
            <a:ext cx="1915072"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E9A35A"/>
                </a:solidFill>
                <a:latin typeface="Arial" pitchFamily="34" charset="0"/>
                <a:ea typeface="Arial" pitchFamily="34" charset="-122"/>
                <a:cs typeface="Arial" pitchFamily="34" charset="-120"/>
              </a:rPr>
              <a:t>5. Performance Optimisers</a:t>
            </a:r>
            <a:endParaRPr lang="en-US" sz="1400" dirty="0"/>
          </a:p>
        </p:txBody>
      </p:sp>
      <p:sp>
        <p:nvSpPr>
          <p:cNvPr id="26" name="Text 24"/>
          <p:cNvSpPr/>
          <p:nvPr/>
        </p:nvSpPr>
        <p:spPr>
          <a:xfrm>
            <a:off x="9596107" y="2356909"/>
            <a:ext cx="1915072" cy="215900"/>
          </a:xfrm>
          <a:prstGeom prst="rect">
            <a:avLst/>
          </a:prstGeom>
          <a:noFill/>
          <a:ln/>
        </p:spPr>
        <p:txBody>
          <a:bodyPr wrap="square" lIns="0" tIns="0" rIns="0" bIns="0" rtlCol="0" anchor="t">
            <a:normAutofit/>
          </a:bodyPr>
          <a:lstStyle/>
          <a:p>
            <a:pPr algn="l" indent="0" marL="0">
              <a:lnSpc>
                <a:spcPts val="1500"/>
              </a:lnSpc>
              <a:buNone/>
            </a:pPr>
            <a:r>
              <a:rPr lang="en-US" sz="1200" i="1" dirty="0">
                <a:solidFill>
                  <a:srgbClr val="FAF6EE"/>
                </a:solidFill>
                <a:latin typeface="Arial" pitchFamily="34" charset="0"/>
                <a:ea typeface="Arial" pitchFamily="34" charset="-122"/>
                <a:cs typeface="Arial" pitchFamily="34" charset="-120"/>
              </a:rPr>
              <a:t>Karan</a:t>
            </a:r>
            <a:endParaRPr lang="en-US" sz="1200" dirty="0"/>
          </a:p>
        </p:txBody>
      </p:sp>
      <p:sp>
        <p:nvSpPr>
          <p:cNvPr id="27" name="Text 25"/>
          <p:cNvSpPr/>
          <p:nvPr/>
        </p:nvSpPr>
        <p:spPr>
          <a:xfrm>
            <a:off x="9596107" y="2598209"/>
            <a:ext cx="1915072"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AF6EE"/>
                </a:solidFill>
                <a:latin typeface="Arial" pitchFamily="34" charset="0"/>
                <a:ea typeface="Arial" pitchFamily="34" charset="-122"/>
                <a:cs typeface="Arial" pitchFamily="34" charset="-120"/>
              </a:rPr>
              <a:t>Choose deliberately by fitness routine and nutrition goals; verify claims.</a:t>
            </a:r>
            <a:endParaRPr lang="en-US" sz="1200" dirty="0"/>
          </a:p>
        </p:txBody>
      </p:sp>
      <p:sp>
        <p:nvSpPr>
          <p:cNvPr id="28" name="Text 26"/>
          <p:cNvSpPr/>
          <p:nvPr/>
        </p:nvSpPr>
        <p:spPr>
          <a:xfrm>
            <a:off x="9596107" y="3220509"/>
            <a:ext cx="1915072" cy="596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AF6EE"/>
                </a:solidFill>
                <a:latin typeface="Arial" pitchFamily="34" charset="0"/>
                <a:ea typeface="Arial" pitchFamily="34" charset="-122"/>
                <a:cs typeface="Arial" pitchFamily="34" charset="-120"/>
              </a:rPr>
              <a:t>Need:</a:t>
            </a:r>
            <a:r>
              <a:rPr lang="en-US" sz="1200" dirty="0">
                <a:solidFill>
                  <a:srgbClr val="FAF6EE"/>
                </a:solidFill>
                <a:latin typeface="Arial" pitchFamily="34" charset="0"/>
                <a:ea typeface="Arial" pitchFamily="34" charset="-122"/>
                <a:cs typeface="Arial" pitchFamily="34" charset="-120"/>
              </a:rPr>
              <a:t> accurate nutrition data, convenient packs, evidence-backed benefits.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E"/>
        </a:solidFill>
      </p:bgPr>
    </p:bg>
    <p:spTree>
      <p:nvGrpSpPr>
        <p:cNvPr id="1" name=""/>
        <p:cNvGrpSpPr/>
        <p:nvPr/>
      </p:nvGrpSpPr>
      <p:grpSpPr>
        <a:xfrm>
          <a:off x="0" y="0"/>
          <a:ext cx="0" cy="0"/>
          <a:chOff x="0" y="0"/>
          <a:chExt cx="0" cy="0"/>
        </a:xfrm>
      </p:grpSpPr>
      <p:sp>
        <p:nvSpPr>
          <p:cNvPr id="2" name="Text 0"/>
          <p:cNvSpPr/>
          <p:nvPr>
            <p:ph type="title"/>
          </p:nvPr>
        </p:nvSpPr>
        <p:spPr>
          <a:xfrm>
            <a:off x="609600" y="457200"/>
            <a:ext cx="11301984" cy="405077"/>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1F2A1C"/>
                </a:solidFill>
                <a:latin typeface="Georgia" pitchFamily="18" charset="0"/>
                <a:ea typeface="Georgia" pitchFamily="18" charset="-122"/>
                <a:cs typeface="Georgia" pitchFamily="18" charset="-120"/>
              </a:rPr>
              <a:t>Recommended audience prioritisation</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2300" y="1001979"/>
          <a:ext cx="10960100" cy="2485760"/>
        </p:xfrm>
        <a:graphic>
          <a:graphicData uri="http://schemas.openxmlformats.org/drawingml/2006/table">
            <a:tbl>
              <a:tblPr/>
              <a:tblGrid>
                <a:gridCol w="2740025"/>
                <a:gridCol w="2740025"/>
                <a:gridCol w="2740025"/>
                <a:gridCol w="2740025"/>
              </a:tblGrid>
              <a:tr h="342768">
                <a:tc>
                  <a:txBody>
                    <a:bodyPr/>
                    <a:lstStyle/>
                    <a:p>
                      <a:pPr indent="0" marL="0">
                        <a:lnSpc>
                          <a:spcPts val="1820"/>
                        </a:lnSpc>
                        <a:buNone/>
                      </a:pPr>
                      <a:r>
                        <a:rPr lang="en-US" sz="1300" b="1" dirty="0">
                          <a:solidFill>
                            <a:srgbClr val="1F2A1C"/>
                          </a:solidFill>
                          <a:latin typeface="Arial" pitchFamily="34" charset="0"/>
                          <a:ea typeface="Arial" pitchFamily="34" charset="-122"/>
                          <a:cs typeface="Arial" pitchFamily="34" charset="-120"/>
                        </a:rPr>
                        <a:t>Tribe</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c>
                  <a:txBody>
                    <a:bodyPr/>
                    <a:lstStyle/>
                    <a:p>
                      <a:pPr indent="0" marL="0">
                        <a:lnSpc>
                          <a:spcPts val="1820"/>
                        </a:lnSpc>
                        <a:buNone/>
                      </a:pPr>
                      <a:r>
                        <a:rPr lang="en-US" sz="1300" b="1" dirty="0">
                          <a:solidFill>
                            <a:srgbClr val="1F2A1C"/>
                          </a:solidFill>
                          <a:latin typeface="Arial" pitchFamily="34" charset="0"/>
                          <a:ea typeface="Arial" pitchFamily="34" charset="-122"/>
                          <a:cs typeface="Arial" pitchFamily="34" charset="-120"/>
                        </a:rPr>
                        <a:t>Purchase trigger</a:t>
                      </a:r>
                      <a:endParaRPr lang="en-US" sz="1300" dirty="0">
                        <a:latin typeface="Arial" charset="0"/>
                        <a:ea typeface="Arial" charset="0"/>
                        <a:cs typeface="Arial" charset="0"/>
                      </a:endParaRPr>
                    </a:p>
                  </a:txBody>
                  <a:tcPr marL="57785" marR="57785" marT="57785" marB="57785" anchor="t">
                    <a:lnL w="12700" cap="flat" cmpd="sng" algn="ctr">
                      <a:solidFill>
                        <a:srgbClr val="B9B6B0"/>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c>
                  <a:txBody>
                    <a:bodyPr/>
                    <a:lstStyle/>
                    <a:p>
                      <a:pPr indent="0" marL="0">
                        <a:lnSpc>
                          <a:spcPts val="1820"/>
                        </a:lnSpc>
                        <a:buNone/>
                      </a:pPr>
                      <a:r>
                        <a:rPr lang="en-US" sz="1300" b="1" dirty="0">
                          <a:solidFill>
                            <a:srgbClr val="1F2A1C"/>
                          </a:solidFill>
                          <a:latin typeface="Arial" pitchFamily="34" charset="0"/>
                          <a:ea typeface="Arial" pitchFamily="34" charset="-122"/>
                          <a:cs typeface="Arial" pitchFamily="34" charset="-120"/>
                        </a:rPr>
                        <a:t>Main barrier</a:t>
                      </a:r>
                      <a:endParaRPr lang="en-US" sz="1300" dirty="0">
                        <a:latin typeface="Arial" charset="0"/>
                        <a:ea typeface="Arial" charset="0"/>
                        <a:cs typeface="Arial" charset="0"/>
                      </a:endParaRPr>
                    </a:p>
                  </a:txBody>
                  <a:tcPr marL="57785" marR="57785" marT="57785" marB="57785" anchor="t">
                    <a:lnL w="12700" cap="flat" cmpd="sng" algn="ctr">
                      <a:solidFill>
                        <a:srgbClr val="B9B6B0"/>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c>
                  <a:txBody>
                    <a:bodyPr/>
                    <a:lstStyle/>
                    <a:p>
                      <a:pPr indent="0" marL="0">
                        <a:lnSpc>
                          <a:spcPts val="1820"/>
                        </a:lnSpc>
                        <a:buNone/>
                      </a:pPr>
                      <a:r>
                        <a:rPr lang="en-US" sz="1300" b="1" dirty="0">
                          <a:solidFill>
                            <a:srgbClr val="1F2A1C"/>
                          </a:solidFill>
                          <a:latin typeface="Arial" pitchFamily="34" charset="0"/>
                          <a:ea typeface="Arial" pitchFamily="34" charset="-122"/>
                          <a:cs typeface="Arial" pitchFamily="34" charset="-120"/>
                        </a:rPr>
                        <a:t>Priority</a:t>
                      </a:r>
                      <a:endParaRPr lang="en-US" sz="1300" dirty="0">
                        <a:latin typeface="Arial" charset="0"/>
                        <a:ea typeface="Arial" charset="0"/>
                        <a:cs typeface="Arial" charset="0"/>
                      </a:endParaRPr>
                    </a:p>
                  </a:txBody>
                  <a:tcPr marL="57785" marR="57785" marT="57785" marB="57785" anchor="t">
                    <a:lnL w="12700" cap="flat" cmpd="sng" algn="ctr">
                      <a:solidFill>
                        <a:srgbClr val="B9B6B0"/>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r>
              <a:tr h="342768">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Guilty Indulgers</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Craving a better everyday snack</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Fear of bland taste</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Very high</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557345">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Mindful Wellness Seekers</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Discovering credible health benefits</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Doubts about claims</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Very high</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342768">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Family-First Planners</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Household restocking</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Price and family acceptance</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557345">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Social and Trend-Driven Snackers</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Viral content, peer recommendations</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Affordability and novelty fatigue</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High</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342768">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Performance Optimisers</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Nutrition and fitness requirements</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Exact nutritional specifications</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820"/>
                        </a:lnSpc>
                        <a:buNone/>
                      </a:pPr>
                      <a:r>
                        <a:rPr lang="en-US" sz="1300" dirty="0">
                          <a:solidFill>
                            <a:srgbClr val="1F2A1C"/>
                          </a:solidFill>
                          <a:latin typeface="Arial" pitchFamily="34" charset="0"/>
                          <a:ea typeface="Arial" pitchFamily="34" charset="-122"/>
                          <a:cs typeface="Arial" pitchFamily="34" charset="-120"/>
                        </a:rPr>
                        <a:t>Medium–high</a:t>
                      </a:r>
                      <a:endParaRPr lang="en-US" sz="1300" dirty="0">
                        <a:latin typeface="Arial" charset="0"/>
                        <a:ea typeface="Arial" charset="0"/>
                        <a:cs typeface="Arial" charset="0"/>
                      </a:endParaRPr>
                    </a:p>
                  </a:txBody>
                  <a:tcPr marL="57785" marR="57785" marT="57785" marB="57785"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bl>
          </a:graphicData>
        </a:graphic>
      </p:graphicFrame>
      <p:sp>
        <p:nvSpPr>
          <p:cNvPr id="4" name="Text 1"/>
          <p:cNvSpPr/>
          <p:nvPr/>
        </p:nvSpPr>
        <p:spPr>
          <a:xfrm>
            <a:off x="609600" y="3640138"/>
            <a:ext cx="10972800" cy="1024136"/>
          </a:xfrm>
          <a:prstGeom prst="roundRect">
            <a:avLst>
              <a:gd name="adj" fmla="val 9921"/>
            </a:avLst>
          </a:prstGeom>
          <a:solidFill>
            <a:srgbClr val="1F2A1C"/>
          </a:solidFill>
          <a:ln/>
        </p:spPr>
        <p:txBody>
          <a:bodyPr wrap="square" lIns="198842" tIns="148042" rIns="0" bIns="122642" rtlCol="0" anchor="t">
            <a:normAutofit/>
          </a:bodyPr>
          <a:lstStyle/>
          <a:p>
            <a:pPr algn="l" indent="0" marL="0">
              <a:lnSpc>
                <a:spcPts val="1755"/>
              </a:lnSpc>
              <a:buNone/>
            </a:pPr>
            <a:r>
              <a:rPr lang="en-US" sz="1300" b="1" dirty="0">
                <a:solidFill>
                  <a:srgbClr val="E9A35A"/>
                </a:solidFill>
                <a:latin typeface="Arial" pitchFamily="34" charset="0"/>
                <a:ea typeface="Arial" pitchFamily="34" charset="-122"/>
                <a:cs typeface="Arial" pitchFamily="34" charset="-120"/>
              </a:rPr>
              <a:t>Strategic recommendation:</a:t>
            </a:r>
            <a:r>
              <a:rPr lang="en-US" sz="1300" dirty="0">
                <a:solidFill>
                  <a:srgbClr val="FAF6EE"/>
                </a:solidFill>
                <a:latin typeface="Arial" pitchFamily="34" charset="0"/>
                <a:ea typeface="Arial" pitchFamily="34" charset="-122"/>
                <a:cs typeface="Arial" pitchFamily="34" charset="-120"/>
              </a:rPr>
              <a:t> start with the Guilty Indulgers (Arjun) and Mindful Wellness Seekers (Priya): two complementary entry points, "I want to snack better" and "I actively seek better snacks". Crunch Theory can serve both without positioning as a fitness or weight-management brand.</a:t>
            </a:r>
            <a:endParaRPr lang="en-US" sz="1300" dirty="0"/>
          </a:p>
        </p:txBody>
      </p:sp>
      <p:sp>
        <p:nvSpPr>
          <p:cNvPr id="5" name="Text 2"/>
          <p:cNvSpPr/>
          <p:nvPr/>
        </p:nvSpPr>
        <p:spPr>
          <a:xfrm>
            <a:off x="609600" y="4816673"/>
            <a:ext cx="11301984"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A6258"/>
                </a:solidFill>
                <a:latin typeface="Arial" pitchFamily="34" charset="0"/>
                <a:ea typeface="Arial" pitchFamily="34" charset="-122"/>
                <a:cs typeface="Arial" pitchFamily="34" charset="-120"/>
              </a:rPr>
              <a:t>Priority ratings are strategic hypotheses, not measured market shares. Final ranking depends on actual formulation, price, distribution and customer research.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E"/>
        </a:solidFill>
      </p:bgPr>
    </p:bg>
    <p:spTree>
      <p:nvGrpSpPr>
        <p:cNvPr id="1" name=""/>
        <p:cNvGrpSpPr/>
        <p:nvPr/>
      </p:nvGrpSpPr>
      <p:grpSpPr>
        <a:xfrm>
          <a:off x="0" y="0"/>
          <a:ext cx="0" cy="0"/>
          <a:chOff x="0" y="0"/>
          <a:chExt cx="0" cy="0"/>
        </a:xfrm>
      </p:grpSpPr>
      <p:sp>
        <p:nvSpPr>
          <p:cNvPr id="2" name="Text 0"/>
          <p:cNvSpPr/>
          <p:nvPr>
            <p:ph type="title"/>
          </p:nvPr>
        </p:nvSpPr>
        <p:spPr>
          <a:xfrm>
            <a:off x="457200" y="355600"/>
            <a:ext cx="11615928" cy="726414"/>
          </a:xfrm>
          <a:prstGeom prst="rect">
            <a:avLst/>
          </a:prstGeom>
          <a:noFill/>
          <a:ln/>
        </p:spPr>
        <p:txBody>
          <a:bodyPr wrap="square" lIns="0" tIns="0" rIns="0" bIns="0" rtlCol="0" anchor="t">
            <a:normAutofit/>
          </a:bodyPr>
          <a:lstStyle/>
          <a:p>
            <a:pPr algn="l" indent="0" marL="0">
              <a:lnSpc>
                <a:spcPts val="2760"/>
              </a:lnSpc>
              <a:buNone/>
            </a:pPr>
            <a:r>
              <a:rPr lang="en-US" sz="2400" b="0" i="0" dirty="0">
                <a:solidFill>
                  <a:srgbClr val="1F2A1C"/>
                </a:solidFill>
                <a:latin typeface="Georgia" pitchFamily="18" charset="0"/>
                <a:ea typeface="Georgia" pitchFamily="18" charset="-122"/>
                <a:cs typeface="Georgia" pitchFamily="18" charset="-120"/>
              </a:rPr>
              <a:t>Customer journey (Arjun): Need → Discover → Evaluate → Buy → Use → Repeat → Advocate</a:t>
            </a:r>
            <a:endParaRPr lang="en-US" sz="2400" dirty="0"/>
          </a:p>
        </p:txBody>
      </p:sp>
      <p:sp>
        <p:nvSpPr>
          <p:cNvPr id="3" name="Text 1"/>
          <p:cNvSpPr/>
          <p:nvPr/>
        </p:nvSpPr>
        <p:spPr>
          <a:xfrm>
            <a:off x="457200" y="1158215"/>
            <a:ext cx="116159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C"/>
                </a:solidFill>
                <a:latin typeface="Arial" pitchFamily="34" charset="0"/>
                <a:ea typeface="Arial" pitchFamily="34" charset="-122"/>
                <a:cs typeface="Arial" pitchFamily="34" charset="-120"/>
              </a:rPr>
              <a:t>Emotional pattern: Frustration → Curiosity → Uncertainty → Trust</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69900" y="1485835"/>
          <a:ext cx="11264900" cy="4428331"/>
        </p:xfrm>
        <a:graphic>
          <a:graphicData uri="http://schemas.openxmlformats.org/drawingml/2006/table">
            <a:tbl>
              <a:tblPr/>
              <a:tblGrid>
                <a:gridCol w="2252980"/>
                <a:gridCol w="2252980"/>
                <a:gridCol w="2252980"/>
                <a:gridCol w="2252980"/>
                <a:gridCol w="2252980"/>
              </a:tblGrid>
              <a:tr h="302154">
                <a:tc>
                  <a:txBody>
                    <a:bodyPr/>
                    <a:lstStyle/>
                    <a:p>
                      <a:pPr indent="0" marL="0">
                        <a:lnSpc>
                          <a:spcPts val="1680"/>
                        </a:lnSpc>
                        <a:buNone/>
                      </a:pPr>
                      <a:r>
                        <a:rPr lang="en-US" sz="1200" b="1" dirty="0">
                          <a:solidFill>
                            <a:srgbClr val="1F2A1C"/>
                          </a:solidFill>
                          <a:latin typeface="Arial" pitchFamily="34" charset="0"/>
                          <a:ea typeface="Arial" pitchFamily="34" charset="-122"/>
                          <a:cs typeface="Arial" pitchFamily="34" charset="-120"/>
                        </a:rPr>
                        <a:t>Stage</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c>
                  <a:txBody>
                    <a:bodyPr/>
                    <a:lstStyle/>
                    <a:p>
                      <a:pPr indent="0" marL="0">
                        <a:lnSpc>
                          <a:spcPts val="1680"/>
                        </a:lnSpc>
                        <a:buNone/>
                      </a:pPr>
                      <a:r>
                        <a:rPr lang="en-US" sz="1200" b="1" dirty="0">
                          <a:solidFill>
                            <a:srgbClr val="1F2A1C"/>
                          </a:solidFill>
                          <a:latin typeface="Arial" pitchFamily="34" charset="0"/>
                          <a:ea typeface="Arial" pitchFamily="34" charset="-122"/>
                          <a:cs typeface="Arial" pitchFamily="34" charset="-120"/>
                        </a:rPr>
                        <a:t>Actions and thoughts</a:t>
                      </a:r>
                      <a:endParaRPr lang="en-US" sz="1200" dirty="0">
                        <a:latin typeface="Arial" charset="0"/>
                        <a:ea typeface="Arial" charset="0"/>
                        <a:cs typeface="Arial" charset="0"/>
                      </a:endParaRPr>
                    </a:p>
                  </a:txBody>
                  <a:tcPr marL="53340" marR="53340" marT="53340" marB="53340" anchor="t">
                    <a:lnL w="12700" cap="flat" cmpd="sng" algn="ctr">
                      <a:solidFill>
                        <a:srgbClr val="B9B6B0"/>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c>
                  <a:txBody>
                    <a:bodyPr/>
                    <a:lstStyle/>
                    <a:p>
                      <a:pPr indent="0" marL="0">
                        <a:lnSpc>
                          <a:spcPts val="1680"/>
                        </a:lnSpc>
                        <a:buNone/>
                      </a:pPr>
                      <a:r>
                        <a:rPr lang="en-US" sz="1200" b="1" dirty="0">
                          <a:solidFill>
                            <a:srgbClr val="1F2A1C"/>
                          </a:solidFill>
                          <a:latin typeface="Arial" pitchFamily="34" charset="0"/>
                          <a:ea typeface="Arial" pitchFamily="34" charset="-122"/>
                          <a:cs typeface="Arial" pitchFamily="34" charset="-120"/>
                        </a:rPr>
                        <a:t>Touchpoints</a:t>
                      </a:r>
                      <a:endParaRPr lang="en-US" sz="1200" dirty="0">
                        <a:latin typeface="Arial" charset="0"/>
                        <a:ea typeface="Arial" charset="0"/>
                        <a:cs typeface="Arial" charset="0"/>
                      </a:endParaRPr>
                    </a:p>
                  </a:txBody>
                  <a:tcPr marL="53340" marR="53340" marT="53340" marB="53340" anchor="t">
                    <a:lnL w="12700" cap="flat" cmpd="sng" algn="ctr">
                      <a:solidFill>
                        <a:srgbClr val="B9B6B0"/>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c>
                  <a:txBody>
                    <a:bodyPr/>
                    <a:lstStyle/>
                    <a:p>
                      <a:pPr indent="0" marL="0">
                        <a:lnSpc>
                          <a:spcPts val="1680"/>
                        </a:lnSpc>
                        <a:buNone/>
                      </a:pPr>
                      <a:r>
                        <a:rPr lang="en-US" sz="1200" b="1" dirty="0">
                          <a:solidFill>
                            <a:srgbClr val="1F2A1C"/>
                          </a:solidFill>
                          <a:latin typeface="Arial" pitchFamily="34" charset="0"/>
                          <a:ea typeface="Arial" pitchFamily="34" charset="-122"/>
                          <a:cs typeface="Arial" pitchFamily="34" charset="-120"/>
                        </a:rPr>
                        <a:t>Pain points</a:t>
                      </a:r>
                      <a:endParaRPr lang="en-US" sz="1200" dirty="0">
                        <a:latin typeface="Arial" charset="0"/>
                        <a:ea typeface="Arial" charset="0"/>
                        <a:cs typeface="Arial" charset="0"/>
                      </a:endParaRPr>
                    </a:p>
                  </a:txBody>
                  <a:tcPr marL="53340" marR="53340" marT="53340" marB="53340" anchor="t">
                    <a:lnL w="12700" cap="flat" cmpd="sng" algn="ctr">
                      <a:solidFill>
                        <a:srgbClr val="B9B6B0"/>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c>
                  <a:txBody>
                    <a:bodyPr/>
                    <a:lstStyle/>
                    <a:p>
                      <a:pPr indent="0" marL="0">
                        <a:lnSpc>
                          <a:spcPts val="1680"/>
                        </a:lnSpc>
                        <a:buNone/>
                      </a:pPr>
                      <a:r>
                        <a:rPr lang="en-US" sz="1200" b="1" dirty="0">
                          <a:solidFill>
                            <a:srgbClr val="1F2A1C"/>
                          </a:solidFill>
                          <a:latin typeface="Arial" pitchFamily="34" charset="0"/>
                          <a:ea typeface="Arial" pitchFamily="34" charset="-122"/>
                          <a:cs typeface="Arial" pitchFamily="34" charset="-120"/>
                        </a:rPr>
                        <a:t>Opportunity</a:t>
                      </a:r>
                      <a:endParaRPr lang="en-US" sz="1200" dirty="0">
                        <a:latin typeface="Arial" charset="0"/>
                        <a:ea typeface="Arial" charset="0"/>
                        <a:cs typeface="Arial" charset="0"/>
                      </a:endParaRPr>
                    </a:p>
                  </a:txBody>
                  <a:tcPr marL="53340" marR="53340" marT="53340" marB="53340" anchor="t">
                    <a:lnL w="12700" cap="flat" cmpd="sng" algn="ctr">
                      <a:solidFill>
                        <a:srgbClr val="B9B6B0"/>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r>
              <a:tr h="667808">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1. Need</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Hungry or stressed at work; worried about habits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Desk, pantry, fitness content, spouse</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Mindless eating, cravings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Healthier snacking as a manageable choice, not an overhaul</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667808">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2. Discovery</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Spots brand via social post, colleague, store, quick commerce</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Instagram, YouTube, creators, search, shelves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Unfamiliar brand, crowded choices, scepticism</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Clear positioning, appetite appeal, relatable workday scenes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484981">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3. Evaluation</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Compares ingredients, taste, nutrition, price, quantity</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Packaging, website, listings, reviews, FAQs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Confusing labels, premium price, taste doubt</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Accurate nutrition, serving size, price, real reviews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484981">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4. Purchase</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Trial pack or larger pack?</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Website, grocery apps, supermarket, local store</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Delivery cost, stock-outs, upfront spend</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Trial packs where viable, easy checkout, clear pricing</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484981">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5. Use</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Tries it at a break or in front of TV; does it satisfy?</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Packaging, taste, family feedback</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Poor flavour or texture, small portions, packaging</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Sensory quality, practical packs, portion info, feedback</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667808">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6. Repeat</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Adds to regular grocery list</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Quick-commerce reorder, website, email or WhatsApp (with consent)</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Forgetting brand, availability, regular cost</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Easy reorder, multipacks, loyalty, consistent stock</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667808">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7. Advocacy</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Recommends to colleagues or shares online</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Reviews, referrals, social, workplace</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No reason to share, poor service</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Honest reviews, handle complaints, transparent referral rewards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A1C"/>
        </a:solidFill>
      </p:bgPr>
    </p:bg>
    <p:spTree>
      <p:nvGrpSpPr>
        <p:cNvPr id="1" name=""/>
        <p:cNvGrpSpPr/>
        <p:nvPr/>
      </p:nvGrpSpPr>
      <p:grpSpPr>
        <a:xfrm>
          <a:off x="0" y="0"/>
          <a:ext cx="0" cy="0"/>
          <a:chOff x="0" y="0"/>
          <a:chExt cx="0" cy="0"/>
        </a:xfrm>
      </p:grpSpPr>
      <p:sp>
        <p:nvSpPr>
          <p:cNvPr id="2" name="Text 0"/>
          <p:cNvSpPr/>
          <p:nvPr>
            <p:ph type="title"/>
          </p:nvPr>
        </p:nvSpPr>
        <p:spPr>
          <a:xfrm>
            <a:off x="609600" y="457200"/>
            <a:ext cx="11301984" cy="405077"/>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FAF6EE"/>
                </a:solidFill>
                <a:latin typeface="Georgia" pitchFamily="18" charset="0"/>
                <a:ea typeface="Georgia" pitchFamily="18" charset="-122"/>
                <a:cs typeface="Georgia" pitchFamily="18" charset="-120"/>
              </a:rPr>
              <a:t>Key pain points and actions</a:t>
            </a:r>
            <a:endParaRPr lang="en-US" sz="2600" dirty="0"/>
          </a:p>
        </p:txBody>
      </p:sp>
      <p:sp>
        <p:nvSpPr>
          <p:cNvPr id="3" name="Shape 1"/>
          <p:cNvSpPr/>
          <p:nvPr/>
        </p:nvSpPr>
        <p:spPr>
          <a:xfrm>
            <a:off x="609600" y="1014679"/>
            <a:ext cx="2647950" cy="3439848"/>
          </a:xfrm>
          <a:prstGeom prst="roundRect">
            <a:avLst>
              <a:gd name="adj" fmla="val 3837"/>
            </a:avLst>
          </a:prstGeom>
          <a:solidFill>
            <a:srgbClr val="2C3A28"/>
          </a:solidFill>
          <a:ln/>
        </p:spPr>
      </p:sp>
      <p:sp>
        <p:nvSpPr>
          <p:cNvPr id="4" name="Text 2"/>
          <p:cNvSpPr/>
          <p:nvPr/>
        </p:nvSpPr>
        <p:spPr>
          <a:xfrm>
            <a:off x="787400" y="1192479"/>
            <a:ext cx="2361120"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E9A35A"/>
                </a:solidFill>
                <a:latin typeface="Arial" pitchFamily="34" charset="0"/>
                <a:ea typeface="Arial" pitchFamily="34" charset="-122"/>
                <a:cs typeface="Arial" pitchFamily="34" charset="-120"/>
              </a:rPr>
              <a:t>1. Healthy vs tasty trade-off</a:t>
            </a:r>
            <a:endParaRPr lang="en-US" sz="1500" dirty="0"/>
          </a:p>
        </p:txBody>
      </p:sp>
      <p:sp>
        <p:nvSpPr>
          <p:cNvPr id="5" name="Text 3"/>
          <p:cNvSpPr/>
          <p:nvPr/>
        </p:nvSpPr>
        <p:spPr>
          <a:xfrm>
            <a:off x="787400" y="1763979"/>
            <a:ext cx="2361120" cy="239977"/>
          </a:xfrm>
          <a:prstGeom prst="rect">
            <a:avLst/>
          </a:prstGeom>
          <a:noFill/>
          <a:ln/>
        </p:spPr>
        <p:txBody>
          <a:bodyPr wrap="square" lIns="0" tIns="0" rIns="0" bIns="0" rtlCol="0" anchor="t">
            <a:normAutofit/>
          </a:bodyPr>
          <a:lstStyle/>
          <a:p>
            <a:pPr algn="l" indent="0" marL="0">
              <a:lnSpc>
                <a:spcPts val="1690"/>
              </a:lnSpc>
              <a:buNone/>
            </a:pPr>
            <a:r>
              <a:rPr lang="en-US" sz="1300" i="1" dirty="0">
                <a:solidFill>
                  <a:srgbClr val="FAF6EE"/>
                </a:solidFill>
                <a:latin typeface="Arial" pitchFamily="34" charset="0"/>
                <a:ea typeface="Arial" pitchFamily="34" charset="-122"/>
                <a:cs typeface="Arial" pitchFamily="34" charset="-120"/>
              </a:rPr>
              <a:t>High priority</a:t>
            </a:r>
            <a:endParaRPr lang="en-US" sz="1300" dirty="0"/>
          </a:p>
        </p:txBody>
      </p:sp>
      <p:sp>
        <p:nvSpPr>
          <p:cNvPr id="6" name="Text 4"/>
          <p:cNvSpPr/>
          <p:nvPr/>
        </p:nvSpPr>
        <p:spPr>
          <a:xfrm>
            <a:off x="787400" y="2054755"/>
            <a:ext cx="2361120" cy="1312863"/>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AF6EE"/>
                </a:solidFill>
                <a:latin typeface="Arial" pitchFamily="34" charset="0"/>
                <a:ea typeface="Arial" pitchFamily="34" charset="-122"/>
                <a:cs typeface="Arial" pitchFamily="34" charset="-120"/>
              </a:rPr>
              <a:t>Healthy snacks are assumed to be less enjoyable. A 2025 study (IBEF) reported 94% of respondents want nutritious snacks without compromising flavour.</a:t>
            </a:r>
            <a:endParaRPr lang="en-US" sz="1300" dirty="0"/>
          </a:p>
        </p:txBody>
      </p:sp>
      <p:sp>
        <p:nvSpPr>
          <p:cNvPr id="7" name="Text 5"/>
          <p:cNvSpPr/>
          <p:nvPr/>
        </p:nvSpPr>
        <p:spPr>
          <a:xfrm>
            <a:off x="787400" y="3418418"/>
            <a:ext cx="2361120" cy="883708"/>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AF6EE"/>
                </a:solidFill>
                <a:latin typeface="Arial" pitchFamily="34" charset="0"/>
                <a:ea typeface="Arial" pitchFamily="34" charset="-122"/>
                <a:cs typeface="Arial" pitchFamily="34" charset="-120"/>
              </a:rPr>
              <a:t>Action:</a:t>
            </a:r>
            <a:r>
              <a:rPr lang="en-US" sz="1300" dirty="0">
                <a:solidFill>
                  <a:srgbClr val="FAF6EE"/>
                </a:solidFill>
                <a:latin typeface="Arial" pitchFamily="34" charset="0"/>
                <a:ea typeface="Arial" pitchFamily="34" charset="-122"/>
                <a:cs typeface="Arial" pitchFamily="34" charset="-120"/>
              </a:rPr>
              <a:t> lead with flavour and crunch, then substantiate nutrition. Run blind taste tests against conventional snacks.</a:t>
            </a:r>
            <a:endParaRPr lang="en-US" sz="1300" dirty="0"/>
          </a:p>
        </p:txBody>
      </p:sp>
      <p:sp>
        <p:nvSpPr>
          <p:cNvPr id="8" name="Shape 6"/>
          <p:cNvSpPr/>
          <p:nvPr/>
        </p:nvSpPr>
        <p:spPr>
          <a:xfrm>
            <a:off x="3384550" y="1014679"/>
            <a:ext cx="2647950" cy="3439848"/>
          </a:xfrm>
          <a:prstGeom prst="roundRect">
            <a:avLst>
              <a:gd name="adj" fmla="val 3837"/>
            </a:avLst>
          </a:prstGeom>
          <a:solidFill>
            <a:srgbClr val="2C3A28"/>
          </a:solidFill>
          <a:ln/>
        </p:spPr>
      </p:sp>
      <p:sp>
        <p:nvSpPr>
          <p:cNvPr id="9" name="Text 7"/>
          <p:cNvSpPr/>
          <p:nvPr/>
        </p:nvSpPr>
        <p:spPr>
          <a:xfrm>
            <a:off x="3562350" y="1192479"/>
            <a:ext cx="247015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E9A35A"/>
                </a:solidFill>
                <a:latin typeface="Arial" pitchFamily="34" charset="0"/>
                <a:ea typeface="Arial" pitchFamily="34" charset="-122"/>
                <a:cs typeface="Arial" pitchFamily="34" charset="-120"/>
              </a:rPr>
              <a:t>2. Lack of trust in claims</a:t>
            </a:r>
            <a:endParaRPr lang="en-US" sz="1500" dirty="0"/>
          </a:p>
        </p:txBody>
      </p:sp>
      <p:sp>
        <p:nvSpPr>
          <p:cNvPr id="10" name="Text 8"/>
          <p:cNvSpPr/>
          <p:nvPr/>
        </p:nvSpPr>
        <p:spPr>
          <a:xfrm>
            <a:off x="3562350" y="1516329"/>
            <a:ext cx="2361120" cy="669131"/>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AF6EE"/>
                </a:solidFill>
                <a:latin typeface="Arial" pitchFamily="34" charset="0"/>
                <a:ea typeface="Arial" pitchFamily="34" charset="-122"/>
                <a:cs typeface="Arial" pitchFamily="34" charset="-120"/>
              </a:rPr>
              <a:t>Customers may not know what "healthy", "natural" or "high protein" means for a product.</a:t>
            </a:r>
            <a:endParaRPr lang="en-US" sz="1300" dirty="0"/>
          </a:p>
        </p:txBody>
      </p:sp>
      <p:sp>
        <p:nvSpPr>
          <p:cNvPr id="11" name="Text 9"/>
          <p:cNvSpPr/>
          <p:nvPr/>
        </p:nvSpPr>
        <p:spPr>
          <a:xfrm>
            <a:off x="3562350" y="2236260"/>
            <a:ext cx="2361120" cy="131286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AF6EE"/>
                </a:solidFill>
                <a:latin typeface="Arial" pitchFamily="34" charset="0"/>
                <a:ea typeface="Arial" pitchFamily="34" charset="-122"/>
                <a:cs typeface="Arial" pitchFamily="34" charset="-120"/>
              </a:rPr>
              <a:t>Action:</a:t>
            </a:r>
            <a:r>
              <a:rPr lang="en-US" sz="1300" dirty="0">
                <a:solidFill>
                  <a:srgbClr val="FAF6EE"/>
                </a:solidFill>
                <a:latin typeface="Arial" pitchFamily="34" charset="0"/>
                <a:ea typeface="Arial" pitchFamily="34" charset="-122"/>
                <a:cs typeface="Arial" pitchFamily="34" charset="-120"/>
              </a:rPr>
              <a:t> make ingredients, nutrition facts, serving size, allergens and substantiated claims easy to find. Avoid vague promises like guaranteed weight loss.</a:t>
            </a:r>
            <a:endParaRPr lang="en-US" sz="1300" dirty="0"/>
          </a:p>
        </p:txBody>
      </p:sp>
      <p:sp>
        <p:nvSpPr>
          <p:cNvPr id="12" name="Shape 10"/>
          <p:cNvSpPr/>
          <p:nvPr/>
        </p:nvSpPr>
        <p:spPr>
          <a:xfrm>
            <a:off x="6159500" y="1014679"/>
            <a:ext cx="2647950" cy="3439848"/>
          </a:xfrm>
          <a:prstGeom prst="roundRect">
            <a:avLst>
              <a:gd name="adj" fmla="val 3837"/>
            </a:avLst>
          </a:prstGeom>
          <a:solidFill>
            <a:srgbClr val="2C3A28"/>
          </a:solidFill>
          <a:ln/>
        </p:spPr>
      </p:sp>
      <p:sp>
        <p:nvSpPr>
          <p:cNvPr id="13" name="Text 11"/>
          <p:cNvSpPr/>
          <p:nvPr/>
        </p:nvSpPr>
        <p:spPr>
          <a:xfrm>
            <a:off x="6337300" y="1192479"/>
            <a:ext cx="2361120" cy="52070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E9A35A"/>
                </a:solidFill>
                <a:latin typeface="Arial" pitchFamily="34" charset="0"/>
                <a:ea typeface="Arial" pitchFamily="34" charset="-122"/>
                <a:cs typeface="Arial" pitchFamily="34" charset="-120"/>
              </a:rPr>
              <a:t>3. Price and perceived value</a:t>
            </a:r>
            <a:endParaRPr lang="en-US" sz="1500" dirty="0"/>
          </a:p>
        </p:txBody>
      </p:sp>
      <p:sp>
        <p:nvSpPr>
          <p:cNvPr id="14" name="Text 12"/>
          <p:cNvSpPr/>
          <p:nvPr/>
        </p:nvSpPr>
        <p:spPr>
          <a:xfrm>
            <a:off x="6337300" y="1763979"/>
            <a:ext cx="2361120" cy="883708"/>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AF6EE"/>
                </a:solidFill>
                <a:latin typeface="Arial" pitchFamily="34" charset="0"/>
                <a:ea typeface="Arial" pitchFamily="34" charset="-122"/>
                <a:cs typeface="Arial" pitchFamily="34" charset="-120"/>
              </a:rPr>
              <a:t>Reluctance to pay a recurring premium. PwC's 2025 India research: 63% concerned about food costs.</a:t>
            </a:r>
            <a:endParaRPr lang="en-US" sz="1300" dirty="0"/>
          </a:p>
        </p:txBody>
      </p:sp>
      <p:sp>
        <p:nvSpPr>
          <p:cNvPr id="15" name="Text 13"/>
          <p:cNvSpPr/>
          <p:nvPr/>
        </p:nvSpPr>
        <p:spPr>
          <a:xfrm>
            <a:off x="6337300" y="2698486"/>
            <a:ext cx="2361120" cy="883708"/>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AF6EE"/>
                </a:solidFill>
                <a:latin typeface="Arial" pitchFamily="34" charset="0"/>
                <a:ea typeface="Arial" pitchFamily="34" charset="-122"/>
                <a:cs typeface="Arial" pitchFamily="34" charset="-120"/>
              </a:rPr>
              <a:t>Action:</a:t>
            </a:r>
            <a:r>
              <a:rPr lang="en-US" sz="1300" dirty="0">
                <a:solidFill>
                  <a:srgbClr val="FAF6EE"/>
                </a:solidFill>
                <a:latin typeface="Arial" pitchFamily="34" charset="0"/>
                <a:ea typeface="Arial" pitchFamily="34" charset="-122"/>
                <a:cs typeface="Arial" pitchFamily="34" charset="-120"/>
              </a:rPr>
              <a:t> test entry packs, introductory offers, multipacks and price-per-serving messaging.</a:t>
            </a:r>
            <a:endParaRPr lang="en-US" sz="1300" dirty="0"/>
          </a:p>
        </p:txBody>
      </p:sp>
      <p:sp>
        <p:nvSpPr>
          <p:cNvPr id="16" name="Shape 14"/>
          <p:cNvSpPr/>
          <p:nvPr/>
        </p:nvSpPr>
        <p:spPr>
          <a:xfrm>
            <a:off x="8934450" y="1014679"/>
            <a:ext cx="2647950" cy="3439848"/>
          </a:xfrm>
          <a:prstGeom prst="roundRect">
            <a:avLst>
              <a:gd name="adj" fmla="val 3837"/>
            </a:avLst>
          </a:prstGeom>
          <a:solidFill>
            <a:srgbClr val="2C3A28"/>
          </a:solidFill>
          <a:ln/>
        </p:spPr>
      </p:sp>
      <p:sp>
        <p:nvSpPr>
          <p:cNvPr id="17" name="Text 15"/>
          <p:cNvSpPr/>
          <p:nvPr/>
        </p:nvSpPr>
        <p:spPr>
          <a:xfrm>
            <a:off x="9112250" y="1192479"/>
            <a:ext cx="247015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E9A35A"/>
                </a:solidFill>
                <a:latin typeface="Arial" pitchFamily="34" charset="0"/>
                <a:ea typeface="Arial" pitchFamily="34" charset="-122"/>
                <a:cs typeface="Arial" pitchFamily="34" charset="-120"/>
              </a:rPr>
              <a:t>4. Habit and convenience</a:t>
            </a:r>
            <a:endParaRPr lang="en-US" sz="1500" dirty="0"/>
          </a:p>
        </p:txBody>
      </p:sp>
      <p:sp>
        <p:nvSpPr>
          <p:cNvPr id="18" name="Text 16"/>
          <p:cNvSpPr/>
          <p:nvPr/>
        </p:nvSpPr>
        <p:spPr>
          <a:xfrm>
            <a:off x="9112250" y="1516329"/>
            <a:ext cx="2361120" cy="669131"/>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AF6EE"/>
                </a:solidFill>
                <a:latin typeface="Arial" pitchFamily="34" charset="0"/>
                <a:ea typeface="Arial" pitchFamily="34" charset="-122"/>
                <a:cs typeface="Arial" pitchFamily="34" charset="-120"/>
              </a:rPr>
              <a:t>Even motivated customers return to familiar, readily available snacks.</a:t>
            </a:r>
            <a:endParaRPr lang="en-US" sz="1300" dirty="0"/>
          </a:p>
        </p:txBody>
      </p:sp>
      <p:sp>
        <p:nvSpPr>
          <p:cNvPr id="19" name="Text 17"/>
          <p:cNvSpPr/>
          <p:nvPr/>
        </p:nvSpPr>
        <p:spPr>
          <a:xfrm>
            <a:off x="9112250" y="2236260"/>
            <a:ext cx="2361120" cy="1098285"/>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AF6EE"/>
                </a:solidFill>
                <a:latin typeface="Arial" pitchFamily="34" charset="0"/>
                <a:ea typeface="Arial" pitchFamily="34" charset="-122"/>
                <a:cs typeface="Arial" pitchFamily="34" charset="-120"/>
              </a:rPr>
              <a:t>Action:</a:t>
            </a:r>
            <a:r>
              <a:rPr lang="en-US" sz="1300" dirty="0">
                <a:solidFill>
                  <a:srgbClr val="FAF6EE"/>
                </a:solidFill>
                <a:latin typeface="Arial" pitchFamily="34" charset="0"/>
                <a:ea typeface="Arial" pitchFamily="34" charset="-122"/>
                <a:cs typeface="Arial" pitchFamily="34" charset="-120"/>
              </a:rPr>
              <a:t> build distribution around office breaks, study sessions, evening hunger and travel. Test grocery and quick-commerce availability.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E"/>
        </a:solidFill>
      </p:bgPr>
    </p:bg>
    <p:spTree>
      <p:nvGrpSpPr>
        <p:cNvPr id="1" name=""/>
        <p:cNvGrpSpPr/>
        <p:nvPr/>
      </p:nvGrpSpPr>
      <p:grpSpPr>
        <a:xfrm>
          <a:off x="0" y="0"/>
          <a:ext cx="0" cy="0"/>
          <a:chOff x="0" y="0"/>
          <a:chExt cx="0" cy="0"/>
        </a:xfrm>
      </p:grpSpPr>
      <p:sp>
        <p:nvSpPr>
          <p:cNvPr id="2" name="Text 0"/>
          <p:cNvSpPr/>
          <p:nvPr>
            <p:ph type="title"/>
          </p:nvPr>
        </p:nvSpPr>
        <p:spPr>
          <a:xfrm>
            <a:off x="609600" y="355600"/>
            <a:ext cx="11301984" cy="375907"/>
          </a:xfrm>
          <a:prstGeom prst="rect">
            <a:avLst/>
          </a:prstGeom>
          <a:noFill/>
          <a:ln/>
        </p:spPr>
        <p:txBody>
          <a:bodyPr wrap="square" lIns="0" tIns="0" rIns="0" bIns="0" rtlCol="0" anchor="t">
            <a:normAutofit/>
          </a:bodyPr>
          <a:lstStyle/>
          <a:p>
            <a:pPr algn="l" indent="0" marL="0">
              <a:lnSpc>
                <a:spcPts val="2760"/>
              </a:lnSpc>
              <a:buNone/>
            </a:pPr>
            <a:r>
              <a:rPr lang="en-US" sz="2400" b="0" i="0" dirty="0">
                <a:solidFill>
                  <a:srgbClr val="1F2A1C"/>
                </a:solidFill>
                <a:latin typeface="Georgia" pitchFamily="18" charset="0"/>
                <a:ea typeface="Georgia" pitchFamily="18" charset="-122"/>
                <a:cs typeface="Georgia" pitchFamily="18" charset="-120"/>
              </a:rPr>
              <a:t>Validating the personas: they are hypotheses, not findings</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2300" y="833109"/>
          <a:ext cx="10960100" cy="2178579"/>
        </p:xfrm>
        <a:graphic>
          <a:graphicData uri="http://schemas.openxmlformats.org/drawingml/2006/table">
            <a:tbl>
              <a:tblPr/>
              <a:tblGrid>
                <a:gridCol w="3653367"/>
                <a:gridCol w="3653367"/>
                <a:gridCol w="3653367"/>
              </a:tblGrid>
              <a:tr h="302154">
                <a:tc>
                  <a:txBody>
                    <a:bodyPr/>
                    <a:lstStyle/>
                    <a:p>
                      <a:pPr indent="0" marL="0">
                        <a:lnSpc>
                          <a:spcPts val="1680"/>
                        </a:lnSpc>
                        <a:buNone/>
                      </a:pPr>
                      <a:r>
                        <a:rPr lang="en-US" sz="1200" b="1" dirty="0">
                          <a:solidFill>
                            <a:srgbClr val="1F2A1C"/>
                          </a:solidFill>
                          <a:latin typeface="Arial" pitchFamily="34" charset="0"/>
                          <a:ea typeface="Arial" pitchFamily="34" charset="-122"/>
                          <a:cs typeface="Arial" pitchFamily="34" charset="-120"/>
                        </a:rPr>
                        <a:t>Method</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c>
                  <a:txBody>
                    <a:bodyPr/>
                    <a:lstStyle/>
                    <a:p>
                      <a:pPr indent="0" marL="0">
                        <a:lnSpc>
                          <a:spcPts val="1680"/>
                        </a:lnSpc>
                        <a:buNone/>
                      </a:pPr>
                      <a:r>
                        <a:rPr lang="en-US" sz="1200" b="1" dirty="0">
                          <a:solidFill>
                            <a:srgbClr val="1F2A1C"/>
                          </a:solidFill>
                          <a:latin typeface="Arial" pitchFamily="34" charset="0"/>
                          <a:ea typeface="Arial" pitchFamily="34" charset="-122"/>
                          <a:cs typeface="Arial" pitchFamily="34" charset="-120"/>
                        </a:rPr>
                        <a:t>Approach</a:t>
                      </a:r>
                      <a:endParaRPr lang="en-US" sz="1200" dirty="0">
                        <a:latin typeface="Arial" charset="0"/>
                        <a:ea typeface="Arial" charset="0"/>
                        <a:cs typeface="Arial" charset="0"/>
                      </a:endParaRPr>
                    </a:p>
                  </a:txBody>
                  <a:tcPr marL="53340" marR="53340" marT="53340" marB="53340" anchor="t">
                    <a:lnL w="12700" cap="flat" cmpd="sng" algn="ctr">
                      <a:solidFill>
                        <a:srgbClr val="B9B6B0"/>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c>
                  <a:txBody>
                    <a:bodyPr/>
                    <a:lstStyle/>
                    <a:p>
                      <a:pPr indent="0" marL="0">
                        <a:lnSpc>
                          <a:spcPts val="1680"/>
                        </a:lnSpc>
                        <a:buNone/>
                      </a:pPr>
                      <a:r>
                        <a:rPr lang="en-US" sz="1200" b="1" dirty="0">
                          <a:solidFill>
                            <a:srgbClr val="1F2A1C"/>
                          </a:solidFill>
                          <a:latin typeface="Arial" pitchFamily="34" charset="0"/>
                          <a:ea typeface="Arial" pitchFamily="34" charset="-122"/>
                          <a:cs typeface="Arial" pitchFamily="34" charset="-120"/>
                        </a:rPr>
                        <a:t>What it reveals</a:t>
                      </a:r>
                      <a:endParaRPr lang="en-US" sz="1200" dirty="0">
                        <a:latin typeface="Arial" charset="0"/>
                        <a:ea typeface="Arial" charset="0"/>
                        <a:cs typeface="Arial" charset="0"/>
                      </a:endParaRPr>
                    </a:p>
                  </a:txBody>
                  <a:tcPr marL="53340" marR="53340" marT="53340" marB="53340" anchor="t">
                    <a:lnL w="12700" cap="flat" cmpd="sng" algn="ctr">
                      <a:solidFill>
                        <a:srgbClr val="B9B6B0"/>
                      </a:solidFill>
                      <a:prstDash val="solid"/>
                      <a:round/>
                      <a:headEnd type="none" w="med" len="med"/>
                      <a:tailEnd type="none" w="med" len="med"/>
                    </a:lnL>
                    <a:lnR w="12700" cap="flat" cmpd="sng" algn="ctr">
                      <a:solidFill>
                        <a:srgbClr val="B9B6B0"/>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B9B6B0"/>
                      </a:solidFill>
                      <a:prstDash val="solid"/>
                      <a:round/>
                      <a:headEnd type="none" w="med" len="med"/>
                      <a:tailEnd type="none" w="med" len="med"/>
                    </a:lnB>
                    <a:solidFill>
                      <a:srgbClr val="E8E4DC"/>
                    </a:solidFill>
                  </a:tcPr>
                </a:tc>
              </a:tr>
              <a:tr h="302154">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Customer interviews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12–15 people across the five personas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Motivations, frustrations, triggers, real routines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B9B6B0"/>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484981">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Online survey</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100–200 potential customers (exploratory)</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Importance of taste, price, ingredients, convenience, trust</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302154">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Snack diary</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7 days, 10–15 participants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What, when, where and why people snack</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302154">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Blind taste test</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Crunch Theory vs 2–3 alternatives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Taste, crunch, satisfaction, willingness to buy</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r h="484981">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Concept and pricing test</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Alternative descriptions, pack sizes, prices</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c>
                  <a:txBody>
                    <a:bodyPr/>
                    <a:lstStyle/>
                    <a:p>
                      <a:pPr indent="0" marL="0">
                        <a:lnSpc>
                          <a:spcPts val="1680"/>
                        </a:lnSpc>
                        <a:buNone/>
                      </a:pPr>
                      <a:r>
                        <a:rPr lang="en-US" sz="1200" dirty="0">
                          <a:solidFill>
                            <a:srgbClr val="1F2A1C"/>
                          </a:solidFill>
                          <a:latin typeface="Arial" pitchFamily="34" charset="0"/>
                          <a:ea typeface="Arial" pitchFamily="34" charset="-122"/>
                          <a:cs typeface="Arial" pitchFamily="34" charset="-120"/>
                        </a:rPr>
                        <a:t>Which proposition attracts interest; price points to test</a:t>
                      </a:r>
                      <a:endParaRPr lang="en-US" sz="1200" dirty="0">
                        <a:latin typeface="Arial" charset="0"/>
                        <a:ea typeface="Arial" charset="0"/>
                        <a:cs typeface="Arial" charset="0"/>
                      </a:endParaRPr>
                    </a:p>
                  </a:txBody>
                  <a:tcPr marL="53340" marR="53340" marT="53340" marB="53340" anchor="t">
                    <a:lnL w="12700" cap="flat" cmpd="sng" algn="ctr">
                      <a:solidFill>
                        <a:srgbClr val="C7C4BE"/>
                      </a:solidFill>
                      <a:prstDash val="solid"/>
                      <a:round/>
                      <a:headEnd type="none" w="med" len="med"/>
                      <a:tailEnd type="none" w="med" len="med"/>
                    </a:lnL>
                    <a:lnR w="12700" cap="flat" cmpd="sng" algn="ctr">
                      <a:solidFill>
                        <a:srgbClr val="C7C4BE"/>
                      </a:solidFill>
                      <a:prstDash val="solid"/>
                      <a:round/>
                      <a:headEnd type="none" w="med" len="med"/>
                      <a:tailEnd type="none" w="med" len="med"/>
                    </a:lnR>
                    <a:lnT w="12700" cap="flat" cmpd="sng" algn="ctr">
                      <a:solidFill>
                        <a:srgbClr val="C7C4BE"/>
                      </a:solidFill>
                      <a:prstDash val="solid"/>
                      <a:round/>
                      <a:headEnd type="none" w="med" len="med"/>
                      <a:tailEnd type="none" w="med" len="med"/>
                    </a:lnT>
                    <a:lnB w="12700" cap="flat" cmpd="sng" algn="ctr">
                      <a:solidFill>
                        <a:srgbClr val="C7C4BE"/>
                      </a:solidFill>
                      <a:prstDash val="solid"/>
                      <a:round/>
                      <a:headEnd type="none" w="med" len="med"/>
                      <a:tailEnd type="none" w="med" len="med"/>
                    </a:lnB>
                  </a:tcPr>
                </a:tc>
              </a:tr>
            </a:tbl>
          </a:graphicData>
        </a:graphic>
      </p:graphicFrame>
      <p:sp>
        <p:nvSpPr>
          <p:cNvPr id="4" name="Text 1"/>
          <p:cNvSpPr/>
          <p:nvPr/>
        </p:nvSpPr>
        <p:spPr>
          <a:xfrm>
            <a:off x="609600" y="3125986"/>
            <a:ext cx="11301984" cy="220927"/>
          </a:xfrm>
          <a:prstGeom prst="rect">
            <a:avLst/>
          </a:prstGeom>
          <a:noFill/>
          <a:ln/>
        </p:spPr>
        <p:txBody>
          <a:bodyPr wrap="square" lIns="0" tIns="0" rIns="0" bIns="0" rtlCol="0" anchor="t">
            <a:normAutofit/>
          </a:bodyPr>
          <a:lstStyle/>
          <a:p>
            <a:pPr algn="l" indent="0" marL="0">
              <a:lnSpc>
                <a:spcPts val="1540"/>
              </a:lnSpc>
              <a:buNone/>
            </a:pPr>
            <a:r>
              <a:rPr lang="en-US" sz="1100" i="1" dirty="0">
                <a:solidFill>
                  <a:srgbClr val="6A6258"/>
                </a:solidFill>
                <a:latin typeface="Arial" pitchFamily="34" charset="0"/>
                <a:ea typeface="Arial" pitchFamily="34" charset="-122"/>
                <a:cs typeface="Arial" pitchFamily="34" charset="-120"/>
              </a:rPr>
              <a:t>Sample sizes are exploratory, not statistically representative; they depend on budget, diversity and the decisions supported.</a:t>
            </a:r>
            <a:endParaRPr lang="en-US" sz="1100" dirty="0"/>
          </a:p>
        </p:txBody>
      </p:sp>
      <p:sp>
        <p:nvSpPr>
          <p:cNvPr id="5" name="Text 2"/>
          <p:cNvSpPr/>
          <p:nvPr/>
        </p:nvSpPr>
        <p:spPr>
          <a:xfrm>
            <a:off x="609600" y="3435815"/>
            <a:ext cx="113019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1C"/>
                </a:solidFill>
                <a:latin typeface="Georgia" pitchFamily="18" charset="0"/>
                <a:ea typeface="Georgia" pitchFamily="18" charset="-122"/>
                <a:cs typeface="Georgia" pitchFamily="18" charset="-120"/>
              </a:rPr>
              <a:t>Five questions to ask customers</a:t>
            </a:r>
            <a:endParaRPr lang="en-US" sz="1500" dirty="0"/>
          </a:p>
        </p:txBody>
      </p:sp>
      <p:sp>
        <p:nvSpPr>
          <p:cNvPr id="6" name="Text 3"/>
          <p:cNvSpPr/>
          <p:nvPr/>
        </p:nvSpPr>
        <p:spPr>
          <a:xfrm>
            <a:off x="694068" y="3778715"/>
            <a:ext cx="11209896" cy="1015934"/>
          </a:xfrm>
          <a:prstGeom prst="rect">
            <a:avLst/>
          </a:prstGeom>
          <a:noFill/>
          <a:ln/>
        </p:spPr>
        <p:txBody>
          <a:bodyPr wrap="square" lIns="0" tIns="0" rIns="0" bIns="0" rtlCol="0" anchor="t">
            <a:normAutofit/>
          </a:bodyPr>
          <a:lstStyle/>
          <a:p>
            <a:pPr algn="l" marL="169532" indent="-169532">
              <a:lnSpc>
                <a:spcPts val="1560"/>
              </a:lnSpc>
              <a:buSzPct val="100000"/>
              <a:buFontTx/>
              <a:buAutoNum type="arabicPeriod" startAt="1"/>
            </a:pPr>
            <a:r>
              <a:rPr lang="en-US" sz="1200" dirty="0">
                <a:solidFill>
                  <a:srgbClr val="1F2A1C"/>
                </a:solidFill>
                <a:latin typeface="Arial" pitchFamily="34" charset="0"/>
                <a:ea typeface="Arial" pitchFamily="34" charset="-122"/>
                <a:cs typeface="Arial" pitchFamily="34" charset="-120"/>
              </a:rPr>
              <a:t>Tell me about the last time you ate a snack. What were you doing, and why did you choose it?</a:t>
            </a:r>
            <a:endParaRPr lang="en-US" sz="1200" dirty="0"/>
          </a:p>
          <a:p>
            <a:pPr algn="l" marL="169532" indent="-169532">
              <a:lnSpc>
                <a:spcPts val="1560"/>
              </a:lnSpc>
              <a:buSzPct val="100000"/>
              <a:buFontTx/>
              <a:buAutoNum type="arabicPeriod" startAt="1"/>
            </a:pPr>
            <a:r>
              <a:rPr lang="en-US" sz="1200" dirty="0">
                <a:solidFill>
                  <a:srgbClr val="1F2A1C"/>
                </a:solidFill>
                <a:latin typeface="Arial" pitchFamily="34" charset="0"/>
                <a:ea typeface="Arial" pitchFamily="34" charset="-122"/>
                <a:cs typeface="Arial" pitchFamily="34" charset="-120"/>
              </a:rPr>
              <a:t>What do you currently buy when you want a snack that feels healthier?</a:t>
            </a:r>
            <a:endParaRPr lang="en-US" sz="1200" dirty="0"/>
          </a:p>
          <a:p>
            <a:pPr algn="l" marL="169532" indent="-169532">
              <a:lnSpc>
                <a:spcPts val="1560"/>
              </a:lnSpc>
              <a:buSzPct val="100000"/>
              <a:buFontTx/>
              <a:buAutoNum type="arabicPeriod" startAt="1"/>
            </a:pPr>
            <a:r>
              <a:rPr lang="en-US" sz="1200" dirty="0">
                <a:solidFill>
                  <a:srgbClr val="1F2A1C"/>
                </a:solidFill>
                <a:latin typeface="Arial" pitchFamily="34" charset="0"/>
                <a:ea typeface="Arial" pitchFamily="34" charset="-122"/>
                <a:cs typeface="Arial" pitchFamily="34" charset="-120"/>
              </a:rPr>
              <a:t>What frustrates you most about the healthy snacks you have tried?</a:t>
            </a:r>
            <a:endParaRPr lang="en-US" sz="1200" dirty="0"/>
          </a:p>
          <a:p>
            <a:pPr algn="l" marL="169532" indent="-169532">
              <a:lnSpc>
                <a:spcPts val="1560"/>
              </a:lnSpc>
              <a:buSzPct val="100000"/>
              <a:buFontTx/>
              <a:buAutoNum type="arabicPeriod" startAt="1"/>
            </a:pPr>
            <a:r>
              <a:rPr lang="en-US" sz="1200" dirty="0">
                <a:solidFill>
                  <a:srgbClr val="1F2A1C"/>
                </a:solidFill>
                <a:latin typeface="Arial" pitchFamily="34" charset="0"/>
                <a:ea typeface="Arial" pitchFamily="34" charset="-122"/>
                <a:cs typeface="Arial" pitchFamily="34" charset="-120"/>
              </a:rPr>
              <a:t>What information would you need before trusting and purchasing a new healthy snack brand?</a:t>
            </a:r>
            <a:endParaRPr lang="en-US" sz="1200" dirty="0"/>
          </a:p>
          <a:p>
            <a:pPr algn="l" marL="169532" indent="-169532">
              <a:lnSpc>
                <a:spcPts val="1560"/>
              </a:lnSpc>
              <a:buSzPct val="100000"/>
              <a:buFontTx/>
              <a:buAutoNum type="arabicPeriod" startAt="1"/>
            </a:pPr>
            <a:r>
              <a:rPr lang="en-US" sz="1200" dirty="0">
                <a:solidFill>
                  <a:srgbClr val="1F2A1C"/>
                </a:solidFill>
                <a:latin typeface="Arial" pitchFamily="34" charset="0"/>
                <a:ea typeface="Arial" pitchFamily="34" charset="-122"/>
                <a:cs typeface="Arial" pitchFamily="34" charset="-120"/>
              </a:rPr>
              <a:t>What would make you buy Crunch Theory again after the first purchase?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2A1C"/>
        </a:solidFill>
      </p:bgPr>
    </p:bg>
    <p:spTree>
      <p:nvGrpSpPr>
        <p:cNvPr id="1" name=""/>
        <p:cNvGrpSpPr/>
        <p:nvPr/>
      </p:nvGrpSpPr>
      <p:grpSpPr>
        <a:xfrm>
          <a:off x="0" y="0"/>
          <a:ext cx="0" cy="0"/>
          <a:chOff x="0" y="0"/>
          <a:chExt cx="0" cy="0"/>
        </a:xfrm>
      </p:grpSpPr>
      <p:sp>
        <p:nvSpPr>
          <p:cNvPr id="2" name="Text 0"/>
          <p:cNvSpPr/>
          <p:nvPr>
            <p:ph type="title"/>
          </p:nvPr>
        </p:nvSpPr>
        <p:spPr>
          <a:xfrm>
            <a:off x="609600" y="457200"/>
            <a:ext cx="11301984" cy="405077"/>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FAF6EE"/>
                </a:solidFill>
                <a:latin typeface="Georgia" pitchFamily="18" charset="0"/>
                <a:ea typeface="Georgia" pitchFamily="18" charset="-122"/>
                <a:cs typeface="Georgia" pitchFamily="18" charset="-120"/>
              </a:rPr>
              <a:t>Key strategic takeaways</a:t>
            </a:r>
            <a:endParaRPr lang="en-US" sz="2600" dirty="0"/>
          </a:p>
        </p:txBody>
      </p:sp>
      <p:sp>
        <p:nvSpPr>
          <p:cNvPr id="3" name="Text 1"/>
          <p:cNvSpPr/>
          <p:nvPr/>
        </p:nvSpPr>
        <p:spPr>
          <a:xfrm>
            <a:off x="706882" y="989279"/>
            <a:ext cx="11197082" cy="1465263"/>
          </a:xfrm>
          <a:prstGeom prst="rect">
            <a:avLst/>
          </a:prstGeom>
          <a:noFill/>
          <a:ln/>
        </p:spPr>
        <p:txBody>
          <a:bodyPr wrap="square" lIns="0" tIns="0" rIns="0" bIns="0" rtlCol="0" anchor="t">
            <a:normAutofit/>
          </a:bodyPr>
          <a:lstStyle/>
          <a:p>
            <a:pPr algn="l" marL="156718" indent="-156718">
              <a:lnSpc>
                <a:spcPts val="1890"/>
              </a:lnSpc>
              <a:buSzPct val="100000"/>
              <a:buChar char="•"/>
            </a:pPr>
            <a:r>
              <a:rPr lang="en-US" sz="1400" b="1" dirty="0">
                <a:solidFill>
                  <a:srgbClr val="E9A35A"/>
                </a:solidFill>
                <a:latin typeface="Arial" pitchFamily="34" charset="0"/>
                <a:ea typeface="Arial" pitchFamily="34" charset="-122"/>
                <a:cs typeface="Arial" pitchFamily="34" charset="-120"/>
              </a:rPr>
              <a:t>Positioning:</a:t>
            </a:r>
            <a:r>
              <a:rPr lang="en-US" sz="1400" dirty="0">
                <a:solidFill>
                  <a:srgbClr val="FAF6EE"/>
                </a:solidFill>
                <a:latin typeface="Arial" pitchFamily="34" charset="0"/>
                <a:ea typeface="Arial" pitchFamily="34" charset="-122"/>
                <a:cs typeface="Arial" pitchFamily="34" charset="-120"/>
              </a:rPr>
              <a:t> a satisfying, convenient, better-for-you snack, not a product only for people on diets.</a:t>
            </a:r>
            <a:endParaRPr lang="en-US" sz="1400" dirty="0"/>
          </a:p>
          <a:p>
            <a:pPr algn="l" marL="156718" indent="-156718">
              <a:lnSpc>
                <a:spcPts val="1890"/>
              </a:lnSpc>
              <a:buSzPct val="100000"/>
              <a:buChar char="•"/>
            </a:pPr>
            <a:r>
              <a:rPr lang="en-US" sz="1400" b="1" dirty="0">
                <a:solidFill>
                  <a:srgbClr val="E9A35A"/>
                </a:solidFill>
                <a:latin typeface="Arial" pitchFamily="34" charset="0"/>
                <a:ea typeface="Arial" pitchFamily="34" charset="-122"/>
                <a:cs typeface="Arial" pitchFamily="34" charset="-120"/>
              </a:rPr>
              <a:t>Product:</a:t>
            </a:r>
            <a:r>
              <a:rPr lang="en-US" sz="1400" dirty="0">
                <a:solidFill>
                  <a:srgbClr val="FAF6EE"/>
                </a:solidFill>
                <a:latin typeface="Arial" pitchFamily="34" charset="0"/>
                <a:ea typeface="Arial" pitchFamily="34" charset="-122"/>
                <a:cs typeface="Arial" pitchFamily="34" charset="-120"/>
              </a:rPr>
              <a:t> validate taste, texture, ingredient quality, portion size and price before heavy ad spend.</a:t>
            </a:r>
            <a:endParaRPr lang="en-US" sz="1400" dirty="0"/>
          </a:p>
          <a:p>
            <a:pPr algn="l" marL="156718" indent="-156718">
              <a:lnSpc>
                <a:spcPts val="1890"/>
              </a:lnSpc>
              <a:buSzPct val="100000"/>
              <a:buChar char="•"/>
            </a:pPr>
            <a:r>
              <a:rPr lang="en-US" sz="1400" b="1" dirty="0">
                <a:solidFill>
                  <a:srgbClr val="E9A35A"/>
                </a:solidFill>
                <a:latin typeface="Arial" pitchFamily="34" charset="0"/>
                <a:ea typeface="Arial" pitchFamily="34" charset="-122"/>
                <a:cs typeface="Arial" pitchFamily="34" charset="-120"/>
              </a:rPr>
              <a:t>Marketing:</a:t>
            </a:r>
            <a:r>
              <a:rPr lang="en-US" sz="1400" dirty="0">
                <a:solidFill>
                  <a:srgbClr val="FAF6EE"/>
                </a:solidFill>
                <a:latin typeface="Arial" pitchFamily="34" charset="0"/>
                <a:ea typeface="Arial" pitchFamily="34" charset="-122"/>
                <a:cs typeface="Arial" pitchFamily="34" charset="-120"/>
              </a:rPr>
              <a:t> relatable workday situations for Arjun; credible ingredient and nutrition communication for Priya; social discovery and trial offers for Aisha.</a:t>
            </a:r>
            <a:endParaRPr lang="en-US" sz="1400" dirty="0"/>
          </a:p>
          <a:p>
            <a:pPr algn="l" marL="156718" indent="-156718">
              <a:lnSpc>
                <a:spcPts val="1890"/>
              </a:lnSpc>
              <a:buSzPct val="100000"/>
              <a:buChar char="•"/>
            </a:pPr>
            <a:r>
              <a:rPr lang="en-US" sz="1400" b="1" dirty="0">
                <a:solidFill>
                  <a:srgbClr val="E9A35A"/>
                </a:solidFill>
                <a:latin typeface="Arial" pitchFamily="34" charset="0"/>
                <a:ea typeface="Arial" pitchFamily="34" charset="-122"/>
                <a:cs typeface="Arial" pitchFamily="34" charset="-120"/>
              </a:rPr>
              <a:t>Distribution:</a:t>
            </a:r>
            <a:r>
              <a:rPr lang="en-US" sz="1400" dirty="0">
                <a:solidFill>
                  <a:srgbClr val="FAF6EE"/>
                </a:solidFill>
                <a:latin typeface="Arial" pitchFamily="34" charset="0"/>
                <a:ea typeface="Arial" pitchFamily="34" charset="-122"/>
                <a:cs typeface="Arial" pitchFamily="34" charset="-120"/>
              </a:rPr>
              <a:t> test online grocery, quick commerce, offices, campus outlets and retail by each tribe's buying behaviour.</a:t>
            </a:r>
            <a:endParaRPr lang="en-US" sz="1400" dirty="0"/>
          </a:p>
          <a:p>
            <a:pPr algn="l" marL="156718" indent="-156718">
              <a:lnSpc>
                <a:spcPts val="1890"/>
              </a:lnSpc>
              <a:buSzPct val="100000"/>
              <a:buChar char="•"/>
            </a:pPr>
            <a:r>
              <a:rPr lang="en-US" sz="1400" b="1" dirty="0">
                <a:solidFill>
                  <a:srgbClr val="E9A35A"/>
                </a:solidFill>
                <a:latin typeface="Arial" pitchFamily="34" charset="0"/>
                <a:ea typeface="Arial" pitchFamily="34" charset="-122"/>
                <a:cs typeface="Arial" pitchFamily="34" charset="-120"/>
              </a:rPr>
              <a:t>Retention:</a:t>
            </a:r>
            <a:r>
              <a:rPr lang="en-US" sz="1400" dirty="0">
                <a:solidFill>
                  <a:srgbClr val="FAF6EE"/>
                </a:solidFill>
                <a:latin typeface="Arial" pitchFamily="34" charset="0"/>
                <a:ea typeface="Arial" pitchFamily="34" charset="-122"/>
                <a:cs typeface="Arial" pitchFamily="34" charset="-120"/>
              </a:rPr>
              <a:t> measure repeat purchase, satisfaction and product feedback, not just engagement or first sales.</a:t>
            </a:r>
            <a:endParaRPr lang="en-US" sz="1400" dirty="0"/>
          </a:p>
        </p:txBody>
      </p:sp>
      <p:sp>
        <p:nvSpPr>
          <p:cNvPr id="4" name="Text 2"/>
          <p:cNvSpPr/>
          <p:nvPr/>
        </p:nvSpPr>
        <p:spPr>
          <a:xfrm>
            <a:off x="609600" y="2581542"/>
            <a:ext cx="1130198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9A35A"/>
                </a:solidFill>
                <a:latin typeface="Georgia" pitchFamily="18" charset="0"/>
                <a:ea typeface="Georgia" pitchFamily="18" charset="-122"/>
                <a:cs typeface="Georgia" pitchFamily="18" charset="-120"/>
              </a:rPr>
              <a:t>Central insight: bridge the gap between wanting to eat healthier and changing everyday snacking. Taste earns the first trial, trust supports the purchase, convenience makes the habit possible, and consistent satisfaction drives repeat purchases.</a:t>
            </a:r>
            <a:endParaRPr lang="en-US" sz="1500" dirty="0"/>
          </a:p>
        </p:txBody>
      </p:sp>
    </p:spTree>
  </p:cSld>
  <p:clrMapOvr>
    <a:masterClrMapping/>
  </p:clrMapOvr>
</p:sld>
</file>

<file path=ppt/theme/theme1.xml><?xml version="1.0" encoding="utf-8"?>
<a:theme xmlns:a="http://schemas.openxmlformats.org/drawingml/2006/main" name="Crunch Theory: Personas, Tribes &amp; Customer Journey">
  <a:themeElements>
    <a:clrScheme name="Crunch Theory: Personas, Tribes &amp; Customer Journey">
      <a:dk1>
        <a:srgbClr val="1F2A1C"/>
      </a:dk1>
      <a:lt1>
        <a:srgbClr val="FAF6EE"/>
      </a:lt1>
      <a:dk2>
        <a:srgbClr val="565D51"/>
      </a:dk2>
      <a:lt2>
        <a:srgbClr val="E4E2D9"/>
      </a:lt2>
      <a:accent1>
        <a:srgbClr val="E9A35A"/>
      </a:accent1>
      <a:accent2>
        <a:srgbClr val="8A5A1C"/>
      </a:accent2>
      <a:accent3>
        <a:srgbClr val="6A6258"/>
      </a:accent3>
      <a:accent4>
        <a:srgbClr val="B9C4B0"/>
      </a:accent4>
      <a:accent5>
        <a:srgbClr val="D8DFD0"/>
      </a:accent5>
      <a:accent6>
        <a:srgbClr val="9AA0A6"/>
      </a:accent6>
      <a:hlink>
        <a:srgbClr val="0563C1"/>
      </a:hlink>
      <a:folHlink>
        <a:srgbClr val="954F72"/>
      </a:folHlink>
    </a:clrScheme>
    <a:fontScheme name="Crunch Theory: Personas, Tribes &amp; Customer Journe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Crunch Theory: Personas, Tribes &amp; Customer Journey</dc:title>
  <dc:subject/>
  <dc:creator/>
  <cp:lastModifiedBy/>
  <cp:revision>1</cp:revision>
  <dcterms:created xsi:type="dcterms:W3CDTF">2026-10-19T15:41:35Z</dcterms:created>
  <dcterms:modified xsi:type="dcterms:W3CDTF">2026-10-19T15:41:35Z</dcterms:modified>
</cp:coreProperties>
</file>